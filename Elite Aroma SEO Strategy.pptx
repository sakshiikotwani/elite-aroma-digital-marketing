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4" r:id="rId14"/>
    <p:sldId id="269" r:id="rId15"/>
    <p:sldId id="268" r:id="rId16"/>
    <p:sldId id="270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94085-A935-4284-AF6F-B446F5BB9394}" v="16" dt="2026-09-18T04:45:45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6F7F-BDBB-BEDC-F7B5-FB3B2FA37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C8620-EBED-EC0D-5CF8-DBA50F2D6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23A67-BDB4-15ED-B7D1-58B9F388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2F705-1D72-D82F-3B13-CA0B78FC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C0C07-A703-0179-F167-30E140B8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105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CE52-499A-4B36-43A9-99FAFB4C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FA78B-C3E8-86A2-1DE3-419B70AAE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B151E-E5AF-25F6-A37F-DACA2AF7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70CB3-A4A3-0878-E34D-C3934C82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A04F0-340E-8E3D-33D2-68EA6C070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34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9118-7398-2A13-675E-3B9D1FB0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F9D6D-490C-CA32-BF16-79DB52011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B3B8-525C-A619-D630-3B41FFE4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007FE-9C25-2DC6-788C-9082DE5F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459C-4589-F9FD-5108-7D965BFC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85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7D71-A3B0-B7FA-0FD2-22C3AAC1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D1A8C-4024-F366-EB59-9A631E21D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2E2D2-7F7E-32B9-0521-385588CB2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3ADC3-EA4B-7C6D-FA44-648714C8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D5E21-1577-66C1-6948-BFD81349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01F83-FE83-09F2-FB56-197312F1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260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C30F-D1F3-1DD6-9F90-CFB3CBF4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CC5DD-8823-6ADA-281B-D0B6F60FF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30078-525B-5D0A-B144-414FCC295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4D1991-8274-B0FC-2AB6-B258EEF58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2D21B-BAC9-2801-4B61-755D4807B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F0601-395E-9AAD-F14D-3EBA5DD0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5FA2B-464E-C83D-95DA-E0AD783A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8EE294-F4A9-7494-3102-51392728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5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F3CD-5162-11E4-09F2-FA792FA8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E5ED8-88FF-B2B0-AED2-2B240C77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AA748-D0BD-5301-8DD9-2188CFD7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99B26-9C2A-CCE2-88F4-491FAA94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44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4DE870-7050-A36C-9323-4AB55BF3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EEAE5-40A0-E543-7B88-3B0AFF31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527CB-3141-6371-7970-04DBDA47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1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2A150-D63D-D326-4882-9F964342A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9323E-4595-D77C-34E6-0F4B09D7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90BBC-386A-1237-E1AE-C5CFBFCA4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732A8-45A1-01B5-8B56-57AAF5E5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06814-983D-5C8F-6208-0DA085F8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8B14D-129F-A269-7D36-CA9028FE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5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157A-B3B1-C1C2-4549-CC9031B62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FB23E-85B9-D25E-9155-29CDDA9C6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9B3FC-BA20-F2B5-E3CD-A3A32A46D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74581-89C5-2391-BF3A-66BB26C9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83E7D-3BA2-5A0F-8CEE-467CAD11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44F10-D4A9-09EF-9BFA-2DC977637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78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894B-243E-F430-186C-552AC738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A07C5-9833-A8B2-3F27-B3E556A41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66C1-FDDB-5043-FD7D-0F76C6E7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8917-F1C4-F7C4-DB06-66685EDE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77BF5-57C7-10CC-B247-A5A4B5B5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18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10DA4-89DC-9CC1-1726-9F1DE66B2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427E0-345A-5EEB-3703-E0F9BD0B6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D0E11-6626-3B9A-BCC1-76428738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687A1-4164-9EB0-E4CE-3F781AA64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EB478-E10D-DD0A-D36A-6E323A0B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40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4996D-B1F2-F18F-49D8-308AF2AD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20187-9738-1CD1-3B75-AF1C443EC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40FE-97AF-CB02-F606-88C9F29CA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5FDA8-0CF4-4473-B68E-77113776241D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2DAD6-0EF3-5E81-6FC7-05121C67E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B22F-1619-2C77-5A4B-D1EA913AC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36D59-19B3-4FF3-AD02-E3550D914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04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EE5555-8381-274A-E4CE-54B36B9D1E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" y="-383565"/>
            <a:ext cx="4087368" cy="2891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04B319-32AC-F759-2AC3-6B6295975CF6}"/>
              </a:ext>
            </a:extLst>
          </p:cNvPr>
          <p:cNvSpPr txBox="1"/>
          <p:nvPr/>
        </p:nvSpPr>
        <p:spPr>
          <a:xfrm>
            <a:off x="-473202" y="1900489"/>
            <a:ext cx="78889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b="1" dirty="0"/>
              <a:t>DIGITAL MARKETING ASSIGNMENT </a:t>
            </a:r>
            <a:endParaRPr lang="en-IN" sz="50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506874-32FC-5EAB-612A-F1B28F545BBB}"/>
              </a:ext>
            </a:extLst>
          </p:cNvPr>
          <p:cNvCxnSpPr>
            <a:cxnSpLocks/>
          </p:cNvCxnSpPr>
          <p:nvPr/>
        </p:nvCxnSpPr>
        <p:spPr>
          <a:xfrm>
            <a:off x="841537" y="3531705"/>
            <a:ext cx="45077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54FE34-5130-E107-95CB-5A39FA8A001F}"/>
              </a:ext>
            </a:extLst>
          </p:cNvPr>
          <p:cNvSpPr txBox="1"/>
          <p:nvPr/>
        </p:nvSpPr>
        <p:spPr>
          <a:xfrm>
            <a:off x="421767" y="3724625"/>
            <a:ext cx="54932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b="1" dirty="0"/>
              <a:t>SEO For Elite Aroma</a:t>
            </a:r>
            <a:endParaRPr lang="en-IN" sz="27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B61D38-FD37-BF2D-87BC-C41610BABE04}"/>
              </a:ext>
            </a:extLst>
          </p:cNvPr>
          <p:cNvSpPr txBox="1"/>
          <p:nvPr/>
        </p:nvSpPr>
        <p:spPr>
          <a:xfrm>
            <a:off x="-1404747" y="5492594"/>
            <a:ext cx="63322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/>
              <a:t>Submitted  by :- Sakshi Kotwani</a:t>
            </a:r>
            <a:endParaRPr lang="en-IN" sz="15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2813A6-1036-368B-1342-B0FA6E729100}"/>
              </a:ext>
            </a:extLst>
          </p:cNvPr>
          <p:cNvSpPr txBox="1"/>
          <p:nvPr/>
        </p:nvSpPr>
        <p:spPr>
          <a:xfrm>
            <a:off x="-2475738" y="5815759"/>
            <a:ext cx="67985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/>
              <a:t>BCA 3</a:t>
            </a:r>
            <a:r>
              <a:rPr lang="en-US" sz="1500" b="1" baseline="30000" dirty="0"/>
              <a:t>rd</a:t>
            </a:r>
            <a:r>
              <a:rPr lang="en-US" sz="1500" b="1" dirty="0"/>
              <a:t> Sem</a:t>
            </a:r>
            <a:endParaRPr lang="en-IN" sz="15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BA584-9687-1269-95B5-B3A44802B245}"/>
              </a:ext>
            </a:extLst>
          </p:cNvPr>
          <p:cNvSpPr txBox="1"/>
          <p:nvPr/>
        </p:nvSpPr>
        <p:spPr>
          <a:xfrm>
            <a:off x="-2475738" y="6124698"/>
            <a:ext cx="733425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/>
              <a:t>Session 2025 - 2028</a:t>
            </a:r>
            <a:endParaRPr lang="en-IN" sz="15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43277B-A800-AA9F-FF2A-2704B81F9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6" t="-4311" r="-3156" b="17783"/>
          <a:stretch>
            <a:fillRect/>
          </a:stretch>
        </p:blipFill>
        <p:spPr>
          <a:xfrm>
            <a:off x="6663979" y="190624"/>
            <a:ext cx="5071491" cy="593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2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5086483" y="822646"/>
            <a:ext cx="2184400" cy="374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 of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Submitted to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Toward 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By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BCA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933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Semester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Sakshi Kotwani</a:t>
            </a:r>
            <a:endParaRPr lang="en-IN" sz="133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5086483" y="5003800"/>
            <a:ext cx="2184400" cy="1303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345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345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106/10, Civil Lines, Ajmer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563C1"/>
                </a:solidFill>
                <a:latin typeface="Calibri" panose="020F0502020204030204" pitchFamily="34" charset="0"/>
              </a:rPr>
              <a:t>www.dezyneecole.com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2026-2027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5372233" y="4603333"/>
            <a:ext cx="1447534" cy="36933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Assignment Report</a:t>
            </a:r>
            <a:endParaRPr lang="en-IN" sz="2133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Acknowledgement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477520" y="1394545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for providing us with the knowledge, </a:t>
            </a:r>
            <a:endParaRPr lang="en-IN" sz="1600" dirty="0"/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467360" y="199196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Our deepest thanks to our respected Principal, Dr. Vinita Mathur, for her visionary leadership and continuous encouragement. </a:t>
            </a:r>
          </a:p>
          <a:p>
            <a:r>
              <a:rPr lang="en-IN" sz="16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477520" y="266561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We are equally thankful to all our faculty members for their consistent support, expert advice, and valuable insights that </a:t>
            </a:r>
          </a:p>
          <a:p>
            <a:r>
              <a:rPr lang="en-IN" sz="16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487680" y="328489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477520" y="366822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  <a:endParaRPr lang="en-IN" sz="2133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477520" y="427071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With sincere appreciation,</a:t>
            </a:r>
            <a:endParaRPr lang="en-IN" sz="26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477520" y="461917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S</a:t>
            </a:r>
            <a:r>
              <a:rPr lang="en-IN" sz="1600" dirty="0" err="1"/>
              <a:t>akshi</a:t>
            </a:r>
            <a:r>
              <a:rPr lang="en-IN" sz="1600" dirty="0"/>
              <a:t> Kotwani</a:t>
            </a:r>
            <a:endParaRPr lang="en-IN" sz="2133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477520" y="499572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Department – BCA</a:t>
            </a:r>
            <a:endParaRPr lang="en-IN" sz="26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477520" y="537226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63F44-66C3-F350-E5E6-857B477BF89B}"/>
              </a:ext>
            </a:extLst>
          </p:cNvPr>
          <p:cNvSpPr txBox="1"/>
          <p:nvPr/>
        </p:nvSpPr>
        <p:spPr>
          <a:xfrm>
            <a:off x="477520" y="13945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SEO Optimization</a:t>
            </a:r>
            <a:endParaRPr lang="en-IN" sz="2133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467360" y="1991966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To improve the search engine visibility, organic traffic, and overall website performance of a newly launched website by implementing effective On-Page, Off-Page, and Technical SEO strategies.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467360" y="176252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467360" y="2990861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 err="1"/>
              <a:t>Analyzed</a:t>
            </a:r>
            <a:r>
              <a:rPr lang="en-IN" sz="1600" dirty="0"/>
              <a:t> the website structure and performed keyword research to identify primary, secondary, and long-tail keywords based on user search intent (informational, navigational, transactional).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467360" y="2761418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Website &amp; Keyword Planning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467360" y="3849855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Optimized web pages using SEO-friendly URLs, title tags, meta descriptions, and proper heading structure (H1 – H3) to improve relevance and search engine ranking.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467360" y="362041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On-Page SEO Implementation</a:t>
            </a:r>
            <a:endParaRPr lang="en-IN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467360" y="4708850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Built high-quality backlinks through guest posting, business listings, profile creation, social bookmarking, and forum participation to increase domain authority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467360" y="447940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Off-Page SEO Activities</a:t>
            </a:r>
            <a:endParaRPr lang="en-IN" sz="3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467360" y="5567845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Improved page speed, mobile responsiveness, and HTTPS security, to ensure better crawling and indexing.</a:t>
            </a:r>
            <a:endParaRPr lang="en-IN" sz="213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467360" y="5338402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Technical SEO Optimization </a:t>
            </a:r>
            <a:endParaRPr lang="en-IN" sz="2133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6590A465-DAEB-17BD-FB7B-FD171427E954}"/>
              </a:ext>
            </a:extLst>
          </p:cNvPr>
          <p:cNvSpPr txBox="1"/>
          <p:nvPr/>
        </p:nvSpPr>
        <p:spPr>
          <a:xfrm>
            <a:off x="149600" y="253549"/>
            <a:ext cx="1189280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sz="4000" b="1" dirty="0">
                <a:solidFill>
                  <a:srgbClr val="00172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IMPORTANCE OF  SEO FOR ELITE AROMA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CEBBA0-E6B2-D0A5-D398-E621C904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" t="343" r="290" b="813"/>
          <a:stretch>
            <a:fillRect/>
          </a:stretch>
        </p:blipFill>
        <p:spPr>
          <a:xfrm>
            <a:off x="1727200" y="883469"/>
            <a:ext cx="8737600" cy="5791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184536" y="1389584"/>
            <a:ext cx="4231341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90"/>
              </a:lnSpc>
            </a:pPr>
            <a:r>
              <a:rPr lang="en-US" sz="3000" b="1" spc="-11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KEYWORD RESEARCH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03858" y="872975"/>
            <a:ext cx="4795545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7"/>
              </a:lnSpc>
            </a:pPr>
            <a:r>
              <a:rPr lang="en-US" sz="2333" b="1" spc="-86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PRIMARY KEYWORD ANALYSIS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94672" y="2261774"/>
            <a:ext cx="3891233" cy="544151"/>
            <a:chOff x="0" y="0"/>
            <a:chExt cx="1937905" cy="27099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937905" cy="270997"/>
            </a:xfrm>
            <a:custGeom>
              <a:avLst/>
              <a:gdLst/>
              <a:ahLst/>
              <a:cxnLst/>
              <a:rect l="l" t="t" r="r" b="b"/>
              <a:pathLst>
                <a:path w="1937905" h="270997">
                  <a:moveTo>
                    <a:pt x="33160" y="0"/>
                  </a:moveTo>
                  <a:lnTo>
                    <a:pt x="1904745" y="0"/>
                  </a:lnTo>
                  <a:cubicBezTo>
                    <a:pt x="1913539" y="0"/>
                    <a:pt x="1921974" y="3494"/>
                    <a:pt x="1928192" y="9712"/>
                  </a:cubicBezTo>
                  <a:cubicBezTo>
                    <a:pt x="1934411" y="15931"/>
                    <a:pt x="1937905" y="24365"/>
                    <a:pt x="1937905" y="33160"/>
                  </a:cubicBezTo>
                  <a:lnTo>
                    <a:pt x="1937905" y="237838"/>
                  </a:lnTo>
                  <a:cubicBezTo>
                    <a:pt x="1937905" y="256151"/>
                    <a:pt x="1923059" y="270997"/>
                    <a:pt x="1904745" y="270997"/>
                  </a:cubicBezTo>
                  <a:lnTo>
                    <a:pt x="33160" y="270997"/>
                  </a:lnTo>
                  <a:cubicBezTo>
                    <a:pt x="14846" y="270997"/>
                    <a:pt x="0" y="256151"/>
                    <a:pt x="0" y="237838"/>
                  </a:cubicBezTo>
                  <a:lnTo>
                    <a:pt x="0" y="33160"/>
                  </a:lnTo>
                  <a:cubicBezTo>
                    <a:pt x="0" y="14846"/>
                    <a:pt x="14846" y="0"/>
                    <a:pt x="33160" y="0"/>
                  </a:cubicBezTo>
                  <a:close/>
                </a:path>
              </a:pathLst>
            </a:custGeom>
            <a:grpFill/>
          </p:spPr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1937905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94672" y="1429835"/>
            <a:ext cx="3891233" cy="544151"/>
            <a:chOff x="0" y="0"/>
            <a:chExt cx="1937905" cy="2709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37905" cy="270997"/>
            </a:xfrm>
            <a:custGeom>
              <a:avLst/>
              <a:gdLst/>
              <a:ahLst/>
              <a:cxnLst/>
              <a:rect l="l" t="t" r="r" b="b"/>
              <a:pathLst>
                <a:path w="1937905" h="270997">
                  <a:moveTo>
                    <a:pt x="33160" y="0"/>
                  </a:moveTo>
                  <a:lnTo>
                    <a:pt x="1904745" y="0"/>
                  </a:lnTo>
                  <a:cubicBezTo>
                    <a:pt x="1913539" y="0"/>
                    <a:pt x="1921974" y="3494"/>
                    <a:pt x="1928192" y="9712"/>
                  </a:cubicBezTo>
                  <a:cubicBezTo>
                    <a:pt x="1934411" y="15931"/>
                    <a:pt x="1937905" y="24365"/>
                    <a:pt x="1937905" y="33160"/>
                  </a:cubicBezTo>
                  <a:lnTo>
                    <a:pt x="1937905" y="237838"/>
                  </a:lnTo>
                  <a:cubicBezTo>
                    <a:pt x="1937905" y="256151"/>
                    <a:pt x="1923059" y="270997"/>
                    <a:pt x="1904745" y="270997"/>
                  </a:cubicBezTo>
                  <a:lnTo>
                    <a:pt x="33160" y="270997"/>
                  </a:lnTo>
                  <a:cubicBezTo>
                    <a:pt x="14846" y="270997"/>
                    <a:pt x="0" y="256151"/>
                    <a:pt x="0" y="237838"/>
                  </a:cubicBezTo>
                  <a:lnTo>
                    <a:pt x="0" y="33160"/>
                  </a:lnTo>
                  <a:cubicBezTo>
                    <a:pt x="0" y="14846"/>
                    <a:pt x="14846" y="0"/>
                    <a:pt x="33160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1937905" cy="38529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94672" y="2868012"/>
            <a:ext cx="3891233" cy="773661"/>
            <a:chOff x="0" y="-89779"/>
            <a:chExt cx="1937905" cy="38529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37905" cy="270997"/>
            </a:xfrm>
            <a:custGeom>
              <a:avLst/>
              <a:gdLst/>
              <a:ahLst/>
              <a:cxnLst/>
              <a:rect l="l" t="t" r="r" b="b"/>
              <a:pathLst>
                <a:path w="1937905" h="270997">
                  <a:moveTo>
                    <a:pt x="33160" y="0"/>
                  </a:moveTo>
                  <a:lnTo>
                    <a:pt x="1904745" y="0"/>
                  </a:lnTo>
                  <a:cubicBezTo>
                    <a:pt x="1913539" y="0"/>
                    <a:pt x="1921974" y="3494"/>
                    <a:pt x="1928192" y="9712"/>
                  </a:cubicBezTo>
                  <a:cubicBezTo>
                    <a:pt x="1934411" y="15931"/>
                    <a:pt x="1937905" y="24365"/>
                    <a:pt x="1937905" y="33160"/>
                  </a:cubicBezTo>
                  <a:lnTo>
                    <a:pt x="1937905" y="237838"/>
                  </a:lnTo>
                  <a:cubicBezTo>
                    <a:pt x="1937905" y="256151"/>
                    <a:pt x="1923059" y="270997"/>
                    <a:pt x="1904745" y="270997"/>
                  </a:cubicBezTo>
                  <a:lnTo>
                    <a:pt x="33160" y="270997"/>
                  </a:lnTo>
                  <a:cubicBezTo>
                    <a:pt x="14846" y="270997"/>
                    <a:pt x="0" y="256151"/>
                    <a:pt x="0" y="237838"/>
                  </a:cubicBezTo>
                  <a:lnTo>
                    <a:pt x="0" y="33160"/>
                  </a:lnTo>
                  <a:cubicBezTo>
                    <a:pt x="0" y="14846"/>
                    <a:pt x="14846" y="0"/>
                    <a:pt x="33160" y="0"/>
                  </a:cubicBezTo>
                  <a:close/>
                </a:path>
              </a:pathLst>
            </a:custGeom>
            <a:grpFill/>
          </p:spPr>
        </p:sp>
        <p:sp>
          <p:nvSpPr>
            <p:cNvPr id="14" name="TextBox 14"/>
            <p:cNvSpPr txBox="1"/>
            <p:nvPr/>
          </p:nvSpPr>
          <p:spPr>
            <a:xfrm>
              <a:off x="0" y="-89779"/>
              <a:ext cx="1937905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03972" y="3697859"/>
            <a:ext cx="3891233" cy="773661"/>
            <a:chOff x="0" y="-73320"/>
            <a:chExt cx="1937905" cy="38529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7905" cy="270997"/>
            </a:xfrm>
            <a:custGeom>
              <a:avLst/>
              <a:gdLst/>
              <a:ahLst/>
              <a:cxnLst/>
              <a:rect l="l" t="t" r="r" b="b"/>
              <a:pathLst>
                <a:path w="1937905" h="270997">
                  <a:moveTo>
                    <a:pt x="33160" y="0"/>
                  </a:moveTo>
                  <a:lnTo>
                    <a:pt x="1904745" y="0"/>
                  </a:lnTo>
                  <a:cubicBezTo>
                    <a:pt x="1913539" y="0"/>
                    <a:pt x="1921974" y="3494"/>
                    <a:pt x="1928192" y="9712"/>
                  </a:cubicBezTo>
                  <a:cubicBezTo>
                    <a:pt x="1934411" y="15931"/>
                    <a:pt x="1937905" y="24365"/>
                    <a:pt x="1937905" y="33160"/>
                  </a:cubicBezTo>
                  <a:lnTo>
                    <a:pt x="1937905" y="237838"/>
                  </a:lnTo>
                  <a:cubicBezTo>
                    <a:pt x="1937905" y="256151"/>
                    <a:pt x="1923059" y="270997"/>
                    <a:pt x="1904745" y="270997"/>
                  </a:cubicBezTo>
                  <a:lnTo>
                    <a:pt x="33160" y="270997"/>
                  </a:lnTo>
                  <a:cubicBezTo>
                    <a:pt x="14846" y="270997"/>
                    <a:pt x="0" y="256151"/>
                    <a:pt x="0" y="237838"/>
                  </a:cubicBezTo>
                  <a:lnTo>
                    <a:pt x="0" y="33160"/>
                  </a:lnTo>
                  <a:cubicBezTo>
                    <a:pt x="0" y="14846"/>
                    <a:pt x="14846" y="0"/>
                    <a:pt x="33160" y="0"/>
                  </a:cubicBezTo>
                  <a:close/>
                </a:path>
              </a:pathLst>
            </a:custGeom>
            <a:grpFill/>
          </p:spPr>
        </p:sp>
        <p:sp>
          <p:nvSpPr>
            <p:cNvPr id="17" name="TextBox 17"/>
            <p:cNvSpPr txBox="1"/>
            <p:nvPr/>
          </p:nvSpPr>
          <p:spPr>
            <a:xfrm>
              <a:off x="0" y="-73320"/>
              <a:ext cx="1937905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94672" y="4546697"/>
            <a:ext cx="3891233" cy="773661"/>
            <a:chOff x="0" y="-24384"/>
            <a:chExt cx="1937905" cy="38529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37905" cy="270997"/>
            </a:xfrm>
            <a:custGeom>
              <a:avLst/>
              <a:gdLst/>
              <a:ahLst/>
              <a:cxnLst/>
              <a:rect l="l" t="t" r="r" b="b"/>
              <a:pathLst>
                <a:path w="1937905" h="270997">
                  <a:moveTo>
                    <a:pt x="33160" y="0"/>
                  </a:moveTo>
                  <a:lnTo>
                    <a:pt x="1904745" y="0"/>
                  </a:lnTo>
                  <a:cubicBezTo>
                    <a:pt x="1913539" y="0"/>
                    <a:pt x="1921974" y="3494"/>
                    <a:pt x="1928192" y="9712"/>
                  </a:cubicBezTo>
                  <a:cubicBezTo>
                    <a:pt x="1934411" y="15931"/>
                    <a:pt x="1937905" y="24365"/>
                    <a:pt x="1937905" y="33160"/>
                  </a:cubicBezTo>
                  <a:lnTo>
                    <a:pt x="1937905" y="237838"/>
                  </a:lnTo>
                  <a:cubicBezTo>
                    <a:pt x="1937905" y="256151"/>
                    <a:pt x="1923059" y="270997"/>
                    <a:pt x="1904745" y="270997"/>
                  </a:cubicBezTo>
                  <a:lnTo>
                    <a:pt x="33160" y="270997"/>
                  </a:lnTo>
                  <a:cubicBezTo>
                    <a:pt x="14846" y="270997"/>
                    <a:pt x="0" y="256151"/>
                    <a:pt x="0" y="237838"/>
                  </a:cubicBezTo>
                  <a:lnTo>
                    <a:pt x="0" y="33160"/>
                  </a:lnTo>
                  <a:cubicBezTo>
                    <a:pt x="0" y="14846"/>
                    <a:pt x="14846" y="0"/>
                    <a:pt x="33160" y="0"/>
                  </a:cubicBezTo>
                  <a:close/>
                </a:path>
              </a:pathLst>
            </a:custGeom>
            <a:grpFill/>
          </p:spPr>
        </p:sp>
        <p:sp>
          <p:nvSpPr>
            <p:cNvPr id="20" name="TextBox 20"/>
            <p:cNvSpPr txBox="1"/>
            <p:nvPr/>
          </p:nvSpPr>
          <p:spPr>
            <a:xfrm>
              <a:off x="0" y="-24384"/>
              <a:ext cx="1937905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94672" y="5393199"/>
            <a:ext cx="3900534" cy="773661"/>
            <a:chOff x="0" y="-41181"/>
            <a:chExt cx="1942537" cy="38529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37905" cy="270997"/>
            </a:xfrm>
            <a:custGeom>
              <a:avLst/>
              <a:gdLst/>
              <a:ahLst/>
              <a:cxnLst/>
              <a:rect l="l" t="t" r="r" b="b"/>
              <a:pathLst>
                <a:path w="1937905" h="270997">
                  <a:moveTo>
                    <a:pt x="33160" y="0"/>
                  </a:moveTo>
                  <a:lnTo>
                    <a:pt x="1904745" y="0"/>
                  </a:lnTo>
                  <a:cubicBezTo>
                    <a:pt x="1913539" y="0"/>
                    <a:pt x="1921974" y="3494"/>
                    <a:pt x="1928192" y="9712"/>
                  </a:cubicBezTo>
                  <a:cubicBezTo>
                    <a:pt x="1934411" y="15931"/>
                    <a:pt x="1937905" y="24365"/>
                    <a:pt x="1937905" y="33160"/>
                  </a:cubicBezTo>
                  <a:lnTo>
                    <a:pt x="1937905" y="237838"/>
                  </a:lnTo>
                  <a:cubicBezTo>
                    <a:pt x="1937905" y="256151"/>
                    <a:pt x="1923059" y="270997"/>
                    <a:pt x="1904745" y="270997"/>
                  </a:cubicBezTo>
                  <a:lnTo>
                    <a:pt x="33160" y="270997"/>
                  </a:lnTo>
                  <a:cubicBezTo>
                    <a:pt x="14846" y="270997"/>
                    <a:pt x="0" y="256151"/>
                    <a:pt x="0" y="237838"/>
                  </a:cubicBezTo>
                  <a:lnTo>
                    <a:pt x="0" y="33160"/>
                  </a:lnTo>
                  <a:cubicBezTo>
                    <a:pt x="0" y="14846"/>
                    <a:pt x="14846" y="0"/>
                    <a:pt x="33160" y="0"/>
                  </a:cubicBezTo>
                  <a:close/>
                </a:path>
              </a:pathLst>
            </a:custGeom>
            <a:grpFill/>
          </p:spPr>
        </p:sp>
        <p:sp>
          <p:nvSpPr>
            <p:cNvPr id="23" name="TextBox 23"/>
            <p:cNvSpPr txBox="1"/>
            <p:nvPr/>
          </p:nvSpPr>
          <p:spPr>
            <a:xfrm>
              <a:off x="4632" y="-41181"/>
              <a:ext cx="1937905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100969" y="5394337"/>
            <a:ext cx="3218844" cy="471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affordable luxury perfume online</a:t>
            </a:r>
            <a:r>
              <a:rPr lang="en-US" sz="1466" b="1" spc="-58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— Transactional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41465" y="4502564"/>
            <a:ext cx="3218843" cy="471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best perfume notes for summer</a:t>
            </a:r>
            <a:r>
              <a:rPr lang="en-US" sz="1466" b="1" spc="-58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— Informational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26952" y="3801258"/>
            <a:ext cx="3418403" cy="47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buy perfume for men online</a:t>
            </a:r>
            <a:r>
              <a:rPr lang="en-US" sz="14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Transactional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26952" y="3153439"/>
            <a:ext cx="3558953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oud perfume meaning</a:t>
            </a:r>
            <a:r>
              <a:rPr lang="en-US" sz="1466" b="1" spc="-58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Informational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26952" y="2192213"/>
            <a:ext cx="2966879" cy="47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best premium perfume in India</a:t>
            </a:r>
            <a:r>
              <a:rPr lang="en-US" sz="1466" b="1" spc="-58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Commercial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26952" y="1482669"/>
            <a:ext cx="2772926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how to make perfume last longer</a:t>
            </a:r>
            <a:r>
              <a:rPr lang="en-US" sz="14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— Informational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0C9A4B2-9EC8-B385-D421-CB77022F4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5" y="2598408"/>
            <a:ext cx="5851950" cy="2713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2082" y="2373518"/>
            <a:ext cx="5918058" cy="544151"/>
            <a:chOff x="0" y="0"/>
            <a:chExt cx="2947301" cy="27099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947301" cy="270997"/>
            </a:xfrm>
            <a:custGeom>
              <a:avLst/>
              <a:gdLst/>
              <a:ahLst/>
              <a:cxnLst/>
              <a:rect l="l" t="t" r="r" b="b"/>
              <a:pathLst>
                <a:path w="2947301" h="270997">
                  <a:moveTo>
                    <a:pt x="21803" y="0"/>
                  </a:moveTo>
                  <a:lnTo>
                    <a:pt x="2925497" y="0"/>
                  </a:lnTo>
                  <a:cubicBezTo>
                    <a:pt x="2931280" y="0"/>
                    <a:pt x="2936826" y="2297"/>
                    <a:pt x="2940914" y="6386"/>
                  </a:cubicBezTo>
                  <a:cubicBezTo>
                    <a:pt x="2945003" y="10475"/>
                    <a:pt x="2947301" y="16021"/>
                    <a:pt x="2947301" y="21803"/>
                  </a:cubicBezTo>
                  <a:lnTo>
                    <a:pt x="2947301" y="249194"/>
                  </a:lnTo>
                  <a:cubicBezTo>
                    <a:pt x="2947301" y="254977"/>
                    <a:pt x="2945003" y="260522"/>
                    <a:pt x="2940914" y="264611"/>
                  </a:cubicBezTo>
                  <a:cubicBezTo>
                    <a:pt x="2936826" y="268700"/>
                    <a:pt x="2931280" y="270997"/>
                    <a:pt x="2925497" y="270997"/>
                  </a:cubicBezTo>
                  <a:lnTo>
                    <a:pt x="21803" y="270997"/>
                  </a:lnTo>
                  <a:cubicBezTo>
                    <a:pt x="16021" y="270997"/>
                    <a:pt x="10475" y="268700"/>
                    <a:pt x="6386" y="264611"/>
                  </a:cubicBezTo>
                  <a:cubicBezTo>
                    <a:pt x="2297" y="260522"/>
                    <a:pt x="0" y="254977"/>
                    <a:pt x="0" y="249194"/>
                  </a:cubicBezTo>
                  <a:lnTo>
                    <a:pt x="0" y="21803"/>
                  </a:lnTo>
                  <a:cubicBezTo>
                    <a:pt x="0" y="16021"/>
                    <a:pt x="2297" y="10475"/>
                    <a:pt x="6386" y="6386"/>
                  </a:cubicBezTo>
                  <a:cubicBezTo>
                    <a:pt x="10475" y="2297"/>
                    <a:pt x="16021" y="0"/>
                    <a:pt x="21803" y="0"/>
                  </a:cubicBez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2947301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5800" y="1536009"/>
            <a:ext cx="5918058" cy="544151"/>
            <a:chOff x="0" y="0"/>
            <a:chExt cx="2947301" cy="2709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47301" cy="270997"/>
            </a:xfrm>
            <a:custGeom>
              <a:avLst/>
              <a:gdLst/>
              <a:ahLst/>
              <a:cxnLst/>
              <a:rect l="l" t="t" r="r" b="b"/>
              <a:pathLst>
                <a:path w="2947301" h="270997">
                  <a:moveTo>
                    <a:pt x="21803" y="0"/>
                  </a:moveTo>
                  <a:lnTo>
                    <a:pt x="2925497" y="0"/>
                  </a:lnTo>
                  <a:cubicBezTo>
                    <a:pt x="2931280" y="0"/>
                    <a:pt x="2936826" y="2297"/>
                    <a:pt x="2940914" y="6386"/>
                  </a:cubicBezTo>
                  <a:cubicBezTo>
                    <a:pt x="2945003" y="10475"/>
                    <a:pt x="2947301" y="16021"/>
                    <a:pt x="2947301" y="21803"/>
                  </a:cubicBezTo>
                  <a:lnTo>
                    <a:pt x="2947301" y="249194"/>
                  </a:lnTo>
                  <a:cubicBezTo>
                    <a:pt x="2947301" y="254977"/>
                    <a:pt x="2945003" y="260522"/>
                    <a:pt x="2940914" y="264611"/>
                  </a:cubicBezTo>
                  <a:cubicBezTo>
                    <a:pt x="2936826" y="268700"/>
                    <a:pt x="2931280" y="270997"/>
                    <a:pt x="2925497" y="270997"/>
                  </a:cubicBezTo>
                  <a:lnTo>
                    <a:pt x="21803" y="270997"/>
                  </a:lnTo>
                  <a:cubicBezTo>
                    <a:pt x="16021" y="270997"/>
                    <a:pt x="10475" y="268700"/>
                    <a:pt x="6386" y="264611"/>
                  </a:cubicBezTo>
                  <a:cubicBezTo>
                    <a:pt x="2297" y="260522"/>
                    <a:pt x="0" y="254977"/>
                    <a:pt x="0" y="249194"/>
                  </a:cubicBezTo>
                  <a:lnTo>
                    <a:pt x="0" y="21803"/>
                  </a:lnTo>
                  <a:cubicBezTo>
                    <a:pt x="0" y="16021"/>
                    <a:pt x="2297" y="10475"/>
                    <a:pt x="6386" y="6386"/>
                  </a:cubicBezTo>
                  <a:cubicBezTo>
                    <a:pt x="10475" y="2297"/>
                    <a:pt x="16021" y="0"/>
                    <a:pt x="21803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2947301" cy="38529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800" y="3187800"/>
            <a:ext cx="5918058" cy="544151"/>
            <a:chOff x="0" y="0"/>
            <a:chExt cx="2947301" cy="27099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2947301" cy="270997"/>
            </a:xfrm>
            <a:custGeom>
              <a:avLst/>
              <a:gdLst/>
              <a:ahLst/>
              <a:cxnLst/>
              <a:rect l="l" t="t" r="r" b="b"/>
              <a:pathLst>
                <a:path w="2947301" h="270997">
                  <a:moveTo>
                    <a:pt x="21803" y="0"/>
                  </a:moveTo>
                  <a:lnTo>
                    <a:pt x="2925497" y="0"/>
                  </a:lnTo>
                  <a:cubicBezTo>
                    <a:pt x="2931280" y="0"/>
                    <a:pt x="2936826" y="2297"/>
                    <a:pt x="2940914" y="6386"/>
                  </a:cubicBezTo>
                  <a:cubicBezTo>
                    <a:pt x="2945003" y="10475"/>
                    <a:pt x="2947301" y="16021"/>
                    <a:pt x="2947301" y="21803"/>
                  </a:cubicBezTo>
                  <a:lnTo>
                    <a:pt x="2947301" y="249194"/>
                  </a:lnTo>
                  <a:cubicBezTo>
                    <a:pt x="2947301" y="254977"/>
                    <a:pt x="2945003" y="260522"/>
                    <a:pt x="2940914" y="264611"/>
                  </a:cubicBezTo>
                  <a:cubicBezTo>
                    <a:pt x="2936826" y="268700"/>
                    <a:pt x="2931280" y="270997"/>
                    <a:pt x="2925497" y="270997"/>
                  </a:cubicBezTo>
                  <a:lnTo>
                    <a:pt x="21803" y="270997"/>
                  </a:lnTo>
                  <a:cubicBezTo>
                    <a:pt x="16021" y="270997"/>
                    <a:pt x="10475" y="268700"/>
                    <a:pt x="6386" y="264611"/>
                  </a:cubicBezTo>
                  <a:cubicBezTo>
                    <a:pt x="2297" y="260522"/>
                    <a:pt x="0" y="254977"/>
                    <a:pt x="0" y="249194"/>
                  </a:cubicBezTo>
                  <a:lnTo>
                    <a:pt x="0" y="21803"/>
                  </a:lnTo>
                  <a:cubicBezTo>
                    <a:pt x="0" y="16021"/>
                    <a:pt x="2297" y="10475"/>
                    <a:pt x="6386" y="6386"/>
                  </a:cubicBezTo>
                  <a:cubicBezTo>
                    <a:pt x="10475" y="2297"/>
                    <a:pt x="16021" y="0"/>
                    <a:pt x="21803" y="0"/>
                  </a:cubicBezTo>
                  <a:close/>
                </a:path>
              </a:pathLst>
            </a:custGeom>
            <a:grpFill/>
          </p:spPr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2947301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4004027"/>
            <a:ext cx="5918058" cy="544151"/>
            <a:chOff x="0" y="0"/>
            <a:chExt cx="2947301" cy="27099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47301" cy="270997"/>
            </a:xfrm>
            <a:custGeom>
              <a:avLst/>
              <a:gdLst/>
              <a:ahLst/>
              <a:cxnLst/>
              <a:rect l="l" t="t" r="r" b="b"/>
              <a:pathLst>
                <a:path w="2947301" h="270997">
                  <a:moveTo>
                    <a:pt x="21803" y="0"/>
                  </a:moveTo>
                  <a:lnTo>
                    <a:pt x="2925497" y="0"/>
                  </a:lnTo>
                  <a:cubicBezTo>
                    <a:pt x="2931280" y="0"/>
                    <a:pt x="2936826" y="2297"/>
                    <a:pt x="2940914" y="6386"/>
                  </a:cubicBezTo>
                  <a:cubicBezTo>
                    <a:pt x="2945003" y="10475"/>
                    <a:pt x="2947301" y="16021"/>
                    <a:pt x="2947301" y="21803"/>
                  </a:cubicBezTo>
                  <a:lnTo>
                    <a:pt x="2947301" y="249194"/>
                  </a:lnTo>
                  <a:cubicBezTo>
                    <a:pt x="2947301" y="254977"/>
                    <a:pt x="2945003" y="260522"/>
                    <a:pt x="2940914" y="264611"/>
                  </a:cubicBezTo>
                  <a:cubicBezTo>
                    <a:pt x="2936826" y="268700"/>
                    <a:pt x="2931280" y="270997"/>
                    <a:pt x="2925497" y="270997"/>
                  </a:cubicBezTo>
                  <a:lnTo>
                    <a:pt x="21803" y="270997"/>
                  </a:lnTo>
                  <a:cubicBezTo>
                    <a:pt x="16021" y="270997"/>
                    <a:pt x="10475" y="268700"/>
                    <a:pt x="6386" y="264611"/>
                  </a:cubicBezTo>
                  <a:cubicBezTo>
                    <a:pt x="2297" y="260522"/>
                    <a:pt x="0" y="254977"/>
                    <a:pt x="0" y="249194"/>
                  </a:cubicBezTo>
                  <a:lnTo>
                    <a:pt x="0" y="21803"/>
                  </a:lnTo>
                  <a:cubicBezTo>
                    <a:pt x="0" y="16021"/>
                    <a:pt x="2297" y="10475"/>
                    <a:pt x="6386" y="6386"/>
                  </a:cubicBezTo>
                  <a:cubicBezTo>
                    <a:pt x="10475" y="2297"/>
                    <a:pt x="16021" y="0"/>
                    <a:pt x="21803" y="0"/>
                  </a:cubicBezTo>
                  <a:close/>
                </a:path>
              </a:pathLst>
            </a:custGeom>
            <a:grpFill/>
          </p:spPr>
        </p:sp>
        <p:sp>
          <p:nvSpPr>
            <p:cNvPr id="13" name="TextBox 13"/>
            <p:cNvSpPr txBox="1"/>
            <p:nvPr/>
          </p:nvSpPr>
          <p:spPr>
            <a:xfrm>
              <a:off x="0" y="-114300"/>
              <a:ext cx="2947301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4835514"/>
            <a:ext cx="5918058" cy="544151"/>
            <a:chOff x="0" y="0"/>
            <a:chExt cx="2947301" cy="27099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47301" cy="270997"/>
            </a:xfrm>
            <a:custGeom>
              <a:avLst/>
              <a:gdLst/>
              <a:ahLst/>
              <a:cxnLst/>
              <a:rect l="l" t="t" r="r" b="b"/>
              <a:pathLst>
                <a:path w="2947301" h="270997">
                  <a:moveTo>
                    <a:pt x="21803" y="0"/>
                  </a:moveTo>
                  <a:lnTo>
                    <a:pt x="2925497" y="0"/>
                  </a:lnTo>
                  <a:cubicBezTo>
                    <a:pt x="2931280" y="0"/>
                    <a:pt x="2936826" y="2297"/>
                    <a:pt x="2940914" y="6386"/>
                  </a:cubicBezTo>
                  <a:cubicBezTo>
                    <a:pt x="2945003" y="10475"/>
                    <a:pt x="2947301" y="16021"/>
                    <a:pt x="2947301" y="21803"/>
                  </a:cubicBezTo>
                  <a:lnTo>
                    <a:pt x="2947301" y="249194"/>
                  </a:lnTo>
                  <a:cubicBezTo>
                    <a:pt x="2947301" y="254977"/>
                    <a:pt x="2945003" y="260522"/>
                    <a:pt x="2940914" y="264611"/>
                  </a:cubicBezTo>
                  <a:cubicBezTo>
                    <a:pt x="2936826" y="268700"/>
                    <a:pt x="2931280" y="270997"/>
                    <a:pt x="2925497" y="270997"/>
                  </a:cubicBezTo>
                  <a:lnTo>
                    <a:pt x="21803" y="270997"/>
                  </a:lnTo>
                  <a:cubicBezTo>
                    <a:pt x="16021" y="270997"/>
                    <a:pt x="10475" y="268700"/>
                    <a:pt x="6386" y="264611"/>
                  </a:cubicBezTo>
                  <a:cubicBezTo>
                    <a:pt x="2297" y="260522"/>
                    <a:pt x="0" y="254977"/>
                    <a:pt x="0" y="249194"/>
                  </a:cubicBezTo>
                  <a:lnTo>
                    <a:pt x="0" y="21803"/>
                  </a:lnTo>
                  <a:cubicBezTo>
                    <a:pt x="0" y="16021"/>
                    <a:pt x="2297" y="10475"/>
                    <a:pt x="6386" y="6386"/>
                  </a:cubicBezTo>
                  <a:cubicBezTo>
                    <a:pt x="10475" y="2297"/>
                    <a:pt x="16021" y="0"/>
                    <a:pt x="21803" y="0"/>
                  </a:cubicBezTo>
                  <a:close/>
                </a:path>
              </a:pathLst>
            </a:custGeom>
            <a:grpFill/>
          </p:spPr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2947301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5667001"/>
            <a:ext cx="5918058" cy="544151"/>
            <a:chOff x="0" y="0"/>
            <a:chExt cx="2947301" cy="27099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47301" cy="270997"/>
            </a:xfrm>
            <a:custGeom>
              <a:avLst/>
              <a:gdLst/>
              <a:ahLst/>
              <a:cxnLst/>
              <a:rect l="l" t="t" r="r" b="b"/>
              <a:pathLst>
                <a:path w="2947301" h="270997">
                  <a:moveTo>
                    <a:pt x="21803" y="0"/>
                  </a:moveTo>
                  <a:lnTo>
                    <a:pt x="2925497" y="0"/>
                  </a:lnTo>
                  <a:cubicBezTo>
                    <a:pt x="2931280" y="0"/>
                    <a:pt x="2936826" y="2297"/>
                    <a:pt x="2940914" y="6386"/>
                  </a:cubicBezTo>
                  <a:cubicBezTo>
                    <a:pt x="2945003" y="10475"/>
                    <a:pt x="2947301" y="16021"/>
                    <a:pt x="2947301" y="21803"/>
                  </a:cubicBezTo>
                  <a:lnTo>
                    <a:pt x="2947301" y="249194"/>
                  </a:lnTo>
                  <a:cubicBezTo>
                    <a:pt x="2947301" y="254977"/>
                    <a:pt x="2945003" y="260522"/>
                    <a:pt x="2940914" y="264611"/>
                  </a:cubicBezTo>
                  <a:cubicBezTo>
                    <a:pt x="2936826" y="268700"/>
                    <a:pt x="2931280" y="270997"/>
                    <a:pt x="2925497" y="270997"/>
                  </a:cubicBezTo>
                  <a:lnTo>
                    <a:pt x="21803" y="270997"/>
                  </a:lnTo>
                  <a:cubicBezTo>
                    <a:pt x="16021" y="270997"/>
                    <a:pt x="10475" y="268700"/>
                    <a:pt x="6386" y="264611"/>
                  </a:cubicBezTo>
                  <a:cubicBezTo>
                    <a:pt x="2297" y="260522"/>
                    <a:pt x="0" y="254977"/>
                    <a:pt x="0" y="249194"/>
                  </a:cubicBezTo>
                  <a:lnTo>
                    <a:pt x="0" y="21803"/>
                  </a:lnTo>
                  <a:cubicBezTo>
                    <a:pt x="0" y="16021"/>
                    <a:pt x="2297" y="10475"/>
                    <a:pt x="6386" y="6386"/>
                  </a:cubicBezTo>
                  <a:cubicBezTo>
                    <a:pt x="10475" y="2297"/>
                    <a:pt x="16021" y="0"/>
                    <a:pt x="21803" y="0"/>
                  </a:cubicBezTo>
                  <a:close/>
                </a:path>
              </a:pathLst>
            </a:custGeom>
            <a:grpFill/>
          </p:spPr>
        </p:sp>
        <p:sp>
          <p:nvSpPr>
            <p:cNvPr id="19" name="TextBox 19"/>
            <p:cNvSpPr txBox="1"/>
            <p:nvPr/>
          </p:nvSpPr>
          <p:spPr>
            <a:xfrm>
              <a:off x="0" y="-114300"/>
              <a:ext cx="2947301" cy="3852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02082" y="890937"/>
            <a:ext cx="4795545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7"/>
              </a:lnSpc>
            </a:pPr>
            <a:r>
              <a:rPr lang="en-US" sz="2333" b="1" spc="-86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LONG-TAIL KEYWORD TARGETING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53127" y="5692855"/>
            <a:ext cx="4552125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order luxury perfume online India</a:t>
            </a:r>
            <a:r>
              <a:rPr lang="en-US" sz="14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Commercial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7212" y="4754272"/>
            <a:ext cx="4903954" cy="471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Elite Aroma perfume vs other luxury perfume brands</a:t>
            </a:r>
            <a:r>
              <a:rPr lang="en-US" sz="14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Commercial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0695" y="4004027"/>
            <a:ext cx="5000939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buy floral perfume for women online</a:t>
            </a:r>
            <a:r>
              <a:rPr lang="en-US" sz="14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Transactional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6989" y="3222009"/>
            <a:ext cx="4724400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Elite Aroma perfume reviews in India</a:t>
            </a:r>
            <a:r>
              <a:rPr lang="en-US" sz="14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Commercial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3127" y="2386088"/>
            <a:ext cx="4945285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Elite Aroma perfume price in India</a:t>
            </a:r>
            <a:r>
              <a:rPr lang="en-US" sz="14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Transactional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0445" y="1601213"/>
            <a:ext cx="4884016" cy="471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how to choose the right perfume for women</a:t>
            </a:r>
            <a:r>
              <a:rPr lang="en-US" sz="14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— Informational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E7548E8-F980-367C-68BF-A162AC417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688" y="1566812"/>
            <a:ext cx="5009515" cy="3917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0602" y="1460117"/>
            <a:ext cx="158803" cy="298095"/>
          </a:xfrm>
          <a:custGeom>
            <a:avLst/>
            <a:gdLst/>
            <a:ahLst/>
            <a:cxnLst/>
            <a:rect l="l" t="t" r="r" b="b"/>
            <a:pathLst>
              <a:path w="238205" h="447142">
                <a:moveTo>
                  <a:pt x="0" y="0"/>
                </a:moveTo>
                <a:lnTo>
                  <a:pt x="238205" y="0"/>
                </a:lnTo>
                <a:lnTo>
                  <a:pt x="238205" y="447141"/>
                </a:lnTo>
                <a:lnTo>
                  <a:pt x="0" y="447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11200" y="2253979"/>
            <a:ext cx="4809469" cy="544151"/>
            <a:chOff x="0" y="0"/>
            <a:chExt cx="2395203" cy="2709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5203" cy="270997"/>
            </a:xfrm>
            <a:custGeom>
              <a:avLst/>
              <a:gdLst/>
              <a:ahLst/>
              <a:cxnLst/>
              <a:rect l="l" t="t" r="r" b="b"/>
              <a:pathLst>
                <a:path w="2395203" h="270997">
                  <a:moveTo>
                    <a:pt x="26829" y="0"/>
                  </a:moveTo>
                  <a:lnTo>
                    <a:pt x="2368374" y="0"/>
                  </a:lnTo>
                  <a:cubicBezTo>
                    <a:pt x="2383191" y="0"/>
                    <a:pt x="2395203" y="12012"/>
                    <a:pt x="2395203" y="26829"/>
                  </a:cubicBezTo>
                  <a:lnTo>
                    <a:pt x="2395203" y="244168"/>
                  </a:lnTo>
                  <a:cubicBezTo>
                    <a:pt x="2395203" y="251284"/>
                    <a:pt x="2392376" y="258108"/>
                    <a:pt x="2387345" y="263139"/>
                  </a:cubicBezTo>
                  <a:cubicBezTo>
                    <a:pt x="2382314" y="268171"/>
                    <a:pt x="2375489" y="270997"/>
                    <a:pt x="2368374" y="270997"/>
                  </a:cubicBezTo>
                  <a:lnTo>
                    <a:pt x="26829" y="270997"/>
                  </a:lnTo>
                  <a:cubicBezTo>
                    <a:pt x="12012" y="270997"/>
                    <a:pt x="0" y="258986"/>
                    <a:pt x="0" y="244168"/>
                  </a:cubicBezTo>
                  <a:lnTo>
                    <a:pt x="0" y="26829"/>
                  </a:lnTo>
                  <a:cubicBezTo>
                    <a:pt x="0" y="12012"/>
                    <a:pt x="12012" y="0"/>
                    <a:pt x="26829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395203" cy="38529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11200" y="594696"/>
            <a:ext cx="4050842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20"/>
              </a:lnSpc>
            </a:pPr>
            <a:r>
              <a:rPr lang="en-US" sz="4000" b="1" spc="-147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ON-PAGE SEO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1656" y="1371285"/>
            <a:ext cx="297866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93"/>
              </a:lnSpc>
              <a:spcBef>
                <a:spcPct val="0"/>
              </a:spcBef>
            </a:pPr>
            <a:r>
              <a:rPr lang="en-US" sz="186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Page-Level Optimization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1200" y="1869407"/>
            <a:ext cx="1251501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31"/>
              </a:lnSpc>
            </a:pPr>
            <a:r>
              <a:rPr lang="en-US" sz="1665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Title Tag →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0003" y="2362860"/>
            <a:ext cx="3682191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1400" spc="22" dirty="0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&lt;title&gt;Home | Elite Aroma&lt;/title&gt;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1200" y="3720540"/>
            <a:ext cx="2020143" cy="310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85"/>
              </a:lnSpc>
              <a:spcBef>
                <a:spcPct val="0"/>
              </a:spcBef>
            </a:pPr>
            <a:r>
              <a:rPr lang="en-US" sz="1732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95795" y="2253388"/>
            <a:ext cx="228075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83"/>
              </a:lnSpc>
            </a:pPr>
            <a:r>
              <a:rPr lang="en-US" sz="1666" b="1" spc="-6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URL STRUCTURE →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11014" y="3310876"/>
            <a:ext cx="2156914" cy="269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31"/>
              </a:lnSpc>
            </a:pPr>
            <a:r>
              <a:rPr lang="en-US" sz="1665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Meta Description →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D691D84-3BDB-39C7-04C2-C43F560BF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22"/>
          <a:stretch>
            <a:fillRect/>
          </a:stretch>
        </p:blipFill>
        <p:spPr>
          <a:xfrm>
            <a:off x="790602" y="2991916"/>
            <a:ext cx="4421212" cy="352116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1213E83-920D-BF48-20E6-D6F86613D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2"/>
          <a:stretch>
            <a:fillRect/>
          </a:stretch>
        </p:blipFill>
        <p:spPr>
          <a:xfrm>
            <a:off x="6326420" y="2681289"/>
            <a:ext cx="4978656" cy="38073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564DE82-9B1A-5B74-07C0-22BCF954F6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14" y="3720540"/>
            <a:ext cx="4730993" cy="7112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85801" y="1218299"/>
            <a:ext cx="5275331" cy="544151"/>
            <a:chOff x="0" y="0"/>
            <a:chExt cx="2627211" cy="27099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627211" cy="270997"/>
            </a:xfrm>
            <a:custGeom>
              <a:avLst/>
              <a:gdLst/>
              <a:ahLst/>
              <a:cxnLst/>
              <a:rect l="l" t="t" r="r" b="b"/>
              <a:pathLst>
                <a:path w="2627211" h="270997">
                  <a:moveTo>
                    <a:pt x="24460" y="0"/>
                  </a:moveTo>
                  <a:lnTo>
                    <a:pt x="2602752" y="0"/>
                  </a:lnTo>
                  <a:cubicBezTo>
                    <a:pt x="2616260" y="0"/>
                    <a:pt x="2627211" y="10951"/>
                    <a:pt x="2627211" y="24460"/>
                  </a:cubicBezTo>
                  <a:lnTo>
                    <a:pt x="2627211" y="246538"/>
                  </a:lnTo>
                  <a:cubicBezTo>
                    <a:pt x="2627211" y="260046"/>
                    <a:pt x="2616260" y="270997"/>
                    <a:pt x="2602752" y="270997"/>
                  </a:cubicBezTo>
                  <a:lnTo>
                    <a:pt x="24460" y="270997"/>
                  </a:lnTo>
                  <a:cubicBezTo>
                    <a:pt x="10951" y="270997"/>
                    <a:pt x="0" y="260046"/>
                    <a:pt x="0" y="246538"/>
                  </a:cubicBezTo>
                  <a:lnTo>
                    <a:pt x="0" y="24460"/>
                  </a:lnTo>
                  <a:cubicBezTo>
                    <a:pt x="0" y="10951"/>
                    <a:pt x="10951" y="0"/>
                    <a:pt x="24460" y="0"/>
                  </a:cubicBezTo>
                  <a:close/>
                </a:path>
              </a:pathLst>
            </a:custGeom>
            <a:grpFill/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627211" cy="2709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4717" y="4314052"/>
            <a:ext cx="5032324" cy="544151"/>
            <a:chOff x="0" y="0"/>
            <a:chExt cx="2880931" cy="27099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2880931" cy="270997"/>
            </a:xfrm>
            <a:custGeom>
              <a:avLst/>
              <a:gdLst/>
              <a:ahLst/>
              <a:cxnLst/>
              <a:rect l="l" t="t" r="r" b="b"/>
              <a:pathLst>
                <a:path w="2880931" h="270997">
                  <a:moveTo>
                    <a:pt x="22305" y="0"/>
                  </a:moveTo>
                  <a:lnTo>
                    <a:pt x="2858625" y="0"/>
                  </a:lnTo>
                  <a:cubicBezTo>
                    <a:pt x="2864541" y="0"/>
                    <a:pt x="2870215" y="2350"/>
                    <a:pt x="2874398" y="6533"/>
                  </a:cubicBezTo>
                  <a:cubicBezTo>
                    <a:pt x="2878581" y="10716"/>
                    <a:pt x="2880931" y="16390"/>
                    <a:pt x="2880931" y="22305"/>
                  </a:cubicBezTo>
                  <a:lnTo>
                    <a:pt x="2880931" y="248692"/>
                  </a:lnTo>
                  <a:cubicBezTo>
                    <a:pt x="2880931" y="254608"/>
                    <a:pt x="2878581" y="260281"/>
                    <a:pt x="2874398" y="264464"/>
                  </a:cubicBezTo>
                  <a:cubicBezTo>
                    <a:pt x="2870215" y="268647"/>
                    <a:pt x="2864541" y="270997"/>
                    <a:pt x="2858625" y="270997"/>
                  </a:cubicBezTo>
                  <a:lnTo>
                    <a:pt x="22305" y="270997"/>
                  </a:lnTo>
                  <a:cubicBezTo>
                    <a:pt x="9986" y="270997"/>
                    <a:pt x="0" y="261011"/>
                    <a:pt x="0" y="248692"/>
                  </a:cubicBezTo>
                  <a:lnTo>
                    <a:pt x="0" y="22305"/>
                  </a:lnTo>
                  <a:cubicBezTo>
                    <a:pt x="0" y="16390"/>
                    <a:pt x="2350" y="10716"/>
                    <a:pt x="6533" y="6533"/>
                  </a:cubicBezTo>
                  <a:cubicBezTo>
                    <a:pt x="10716" y="2350"/>
                    <a:pt x="16390" y="0"/>
                    <a:pt x="22305" y="0"/>
                  </a:cubicBezTo>
                  <a:close/>
                </a:path>
              </a:pathLst>
            </a:custGeom>
            <a:grpFill/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880931" cy="2709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95200" y="2256588"/>
            <a:ext cx="5161409" cy="544151"/>
            <a:chOff x="0" y="0"/>
            <a:chExt cx="2827048" cy="270997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27048" cy="270997"/>
            </a:xfrm>
            <a:custGeom>
              <a:avLst/>
              <a:gdLst/>
              <a:ahLst/>
              <a:cxnLst/>
              <a:rect l="l" t="t" r="r" b="b"/>
              <a:pathLst>
                <a:path w="2827048" h="270997">
                  <a:moveTo>
                    <a:pt x="22731" y="0"/>
                  </a:moveTo>
                  <a:lnTo>
                    <a:pt x="2804318" y="0"/>
                  </a:lnTo>
                  <a:cubicBezTo>
                    <a:pt x="2810346" y="0"/>
                    <a:pt x="2816128" y="2395"/>
                    <a:pt x="2820391" y="6658"/>
                  </a:cubicBezTo>
                  <a:cubicBezTo>
                    <a:pt x="2824653" y="10920"/>
                    <a:pt x="2827048" y="16702"/>
                    <a:pt x="2827048" y="22731"/>
                  </a:cubicBezTo>
                  <a:lnTo>
                    <a:pt x="2827048" y="248267"/>
                  </a:lnTo>
                  <a:cubicBezTo>
                    <a:pt x="2827048" y="254295"/>
                    <a:pt x="2824653" y="260077"/>
                    <a:pt x="2820391" y="264340"/>
                  </a:cubicBezTo>
                  <a:cubicBezTo>
                    <a:pt x="2816128" y="268602"/>
                    <a:pt x="2810346" y="270997"/>
                    <a:pt x="2804318" y="270997"/>
                  </a:cubicBezTo>
                  <a:lnTo>
                    <a:pt x="22731" y="270997"/>
                  </a:lnTo>
                  <a:cubicBezTo>
                    <a:pt x="16702" y="270997"/>
                    <a:pt x="10920" y="268602"/>
                    <a:pt x="6658" y="264340"/>
                  </a:cubicBezTo>
                  <a:cubicBezTo>
                    <a:pt x="2395" y="260077"/>
                    <a:pt x="0" y="254295"/>
                    <a:pt x="0" y="248267"/>
                  </a:cubicBezTo>
                  <a:lnTo>
                    <a:pt x="0" y="22731"/>
                  </a:lnTo>
                  <a:cubicBezTo>
                    <a:pt x="0" y="16702"/>
                    <a:pt x="2395" y="10920"/>
                    <a:pt x="6658" y="6658"/>
                  </a:cubicBezTo>
                  <a:cubicBezTo>
                    <a:pt x="10920" y="2395"/>
                    <a:pt x="16702" y="0"/>
                    <a:pt x="22731" y="0"/>
                  </a:cubicBezTo>
                  <a:close/>
                </a:path>
              </a:pathLst>
            </a:custGeom>
            <a:grpFill/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687151" cy="270997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67"/>
                </a:lnSpc>
              </a:pPr>
              <a:endParaRPr sz="12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85800" y="434700"/>
            <a:ext cx="5010581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68"/>
              </a:lnSpc>
            </a:pPr>
            <a:r>
              <a:rPr lang="en-US" sz="3600" b="1" spc="-133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HEADING HIERARCHY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3635" y="4433843"/>
            <a:ext cx="4542182" cy="3045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13"/>
              </a:lnSpc>
            </a:pPr>
            <a:r>
              <a:rPr lang="en-US" sz="1866" spc="2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H3: Sub-sections and supporting content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70590" y="2353262"/>
            <a:ext cx="5568353" cy="350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87"/>
              </a:lnSpc>
            </a:pPr>
            <a:r>
              <a:rPr lang="en-US" sz="2133" spc="34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H2: Section headings for key topics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1185" y="1293525"/>
            <a:ext cx="5179947" cy="37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en-US" sz="2266" spc="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H1: Page title with primary keyword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F7B0E7-C496-4013-65A4-D0487EDB7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34" y="1902745"/>
            <a:ext cx="4874490" cy="1642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F2830F-E759-255A-5F48-D56C40D5D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974" y="2897414"/>
            <a:ext cx="5016673" cy="15920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5ECABA-64C9-E2DA-F648-A67042A0EA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20" y="4984253"/>
            <a:ext cx="5313069" cy="17699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5771" y="1598855"/>
            <a:ext cx="158803" cy="298095"/>
          </a:xfrm>
          <a:custGeom>
            <a:avLst/>
            <a:gdLst/>
            <a:ahLst/>
            <a:cxnLst/>
            <a:rect l="l" t="t" r="r" b="b"/>
            <a:pathLst>
              <a:path w="238205" h="447142">
                <a:moveTo>
                  <a:pt x="0" y="0"/>
                </a:moveTo>
                <a:lnTo>
                  <a:pt x="238205" y="0"/>
                </a:lnTo>
                <a:lnTo>
                  <a:pt x="238205" y="447142"/>
                </a:lnTo>
                <a:lnTo>
                  <a:pt x="0" y="4471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6400" y="535879"/>
            <a:ext cx="613156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56"/>
              </a:lnSpc>
            </a:pPr>
            <a:r>
              <a:rPr lang="en-US" sz="5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OFF-PAGE SEO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6825" y="1510024"/>
            <a:ext cx="2978661" cy="34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93"/>
              </a:lnSpc>
              <a:spcBef>
                <a:spcPct val="0"/>
              </a:spcBef>
            </a:pPr>
            <a:r>
              <a:rPr lang="en-US" sz="18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Backlink Building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5770" y="2094140"/>
            <a:ext cx="4594954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75" lvl="1" indent="-151138">
              <a:lnSpc>
                <a:spcPct val="100000"/>
              </a:lnSpc>
              <a:buFont typeface="Arial"/>
              <a:buChar char="•"/>
            </a:pPr>
            <a:r>
              <a:rPr lang="en-IN" sz="1400" dirty="0"/>
              <a:t>Perfume &amp; Fragrance → </a:t>
            </a:r>
            <a:r>
              <a:rPr lang="en-IN" sz="1400" dirty="0" err="1"/>
              <a:t>FragranceX</a:t>
            </a:r>
            <a:endParaRPr lang="en-US" sz="1400" spc="22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84534" y="2094140"/>
            <a:ext cx="4217565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75" lvl="1" indent="-151138">
              <a:lnSpc>
                <a:spcPct val="100000"/>
              </a:lnSpc>
              <a:buFont typeface="Arial"/>
              <a:buChar char="•"/>
            </a:pPr>
            <a:r>
              <a:rPr lang="en-IN" sz="1400" dirty="0"/>
              <a:t>Fashion &amp; Lifestyle → Myntra</a:t>
            </a:r>
            <a:endParaRPr lang="en-US" sz="1400" spc="22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05770" y="2431716"/>
            <a:ext cx="5110052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75" lvl="1" indent="-151138">
              <a:lnSpc>
                <a:spcPct val="100000"/>
              </a:lnSpc>
              <a:buFont typeface="Arial"/>
              <a:buChar char="•"/>
            </a:pPr>
            <a:r>
              <a:rPr lang="en-IN" sz="1400" dirty="0"/>
              <a:t>Beauty &amp; Personal Care → </a:t>
            </a:r>
            <a:r>
              <a:rPr lang="en-IN" sz="1400" dirty="0" err="1"/>
              <a:t>Nykaa</a:t>
            </a:r>
            <a:endParaRPr lang="en-US" sz="1400" spc="22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284534" y="2431716"/>
            <a:ext cx="4217565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75" lvl="1" indent="-151138">
              <a:lnSpc>
                <a:spcPct val="100000"/>
              </a:lnSpc>
              <a:buFont typeface="Arial"/>
              <a:buChar char="•"/>
            </a:pPr>
            <a:r>
              <a:rPr lang="en-IN" sz="1400" dirty="0"/>
              <a:t>Beauty &amp; Grooming → </a:t>
            </a:r>
            <a:r>
              <a:rPr lang="en-IN" sz="1400" dirty="0" err="1"/>
              <a:t>Purplle</a:t>
            </a:r>
            <a:endParaRPr lang="en-US" sz="1400" spc="22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8CCBAD-C363-B291-65DE-EEF7EE2F0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92" y="2855961"/>
            <a:ext cx="5527030" cy="35194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E91EE8-F637-F1EA-4687-D253D12B6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534" y="2978158"/>
            <a:ext cx="5248117" cy="3343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78401" y="524887"/>
            <a:ext cx="158803" cy="298095"/>
          </a:xfrm>
          <a:custGeom>
            <a:avLst/>
            <a:gdLst/>
            <a:ahLst/>
            <a:cxnLst/>
            <a:rect l="l" t="t" r="r" b="b"/>
            <a:pathLst>
              <a:path w="238205" h="447142">
                <a:moveTo>
                  <a:pt x="0" y="0"/>
                </a:moveTo>
                <a:lnTo>
                  <a:pt x="238204" y="0"/>
                </a:lnTo>
                <a:lnTo>
                  <a:pt x="238204" y="447142"/>
                </a:lnTo>
                <a:lnTo>
                  <a:pt x="0" y="4471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5" name="TextBox 5"/>
          <p:cNvSpPr txBox="1"/>
          <p:nvPr/>
        </p:nvSpPr>
        <p:spPr>
          <a:xfrm>
            <a:off x="5293800" y="485086"/>
            <a:ext cx="2268288" cy="368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03"/>
              </a:lnSpc>
              <a:spcBef>
                <a:spcPct val="0"/>
              </a:spcBef>
            </a:pPr>
            <a:r>
              <a:rPr lang="en-US" sz="20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Guest Posting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3928" y="1127708"/>
            <a:ext cx="6141720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51138" lvl="1">
              <a:lnSpc>
                <a:spcPts val="1960"/>
              </a:lnSpc>
            </a:pPr>
            <a:r>
              <a:rPr lang="en-US" sz="1200" spc="2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“Your signature scent starts here.”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38536" y="1127709"/>
            <a:ext cx="5555064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51138" lvl="1">
              <a:lnSpc>
                <a:spcPts val="1960"/>
              </a:lnSpc>
            </a:pPr>
            <a:r>
              <a:rPr lang="en-US" sz="1200" spc="2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“Luxury in every drop, memories in every fragrance.”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957BAA-8076-9863-075E-10A51D26C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136" y="1629653"/>
            <a:ext cx="4703064" cy="4730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510FD5-39B0-71A9-F8EC-F4B272F0D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704280"/>
            <a:ext cx="5037327" cy="45811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28671" y="518973"/>
            <a:ext cx="158803" cy="298095"/>
          </a:xfrm>
          <a:custGeom>
            <a:avLst/>
            <a:gdLst/>
            <a:ahLst/>
            <a:cxnLst/>
            <a:rect l="l" t="t" r="r" b="b"/>
            <a:pathLst>
              <a:path w="238205" h="447142">
                <a:moveTo>
                  <a:pt x="0" y="0"/>
                </a:moveTo>
                <a:lnTo>
                  <a:pt x="238204" y="0"/>
                </a:lnTo>
                <a:lnTo>
                  <a:pt x="238204" y="447142"/>
                </a:lnTo>
                <a:lnTo>
                  <a:pt x="0" y="4471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606670" y="462836"/>
            <a:ext cx="297866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3"/>
              </a:lnSpc>
              <a:spcBef>
                <a:spcPct val="0"/>
              </a:spcBef>
            </a:pPr>
            <a:r>
              <a:rPr lang="en-IN" sz="2667" b="1" dirty="0"/>
              <a:t>RESPONSIVENESS</a:t>
            </a:r>
            <a:endParaRPr lang="en-US" sz="24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1601" y="1440720"/>
            <a:ext cx="3394927" cy="23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spc="2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Phone 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00989" y="1449040"/>
            <a:ext cx="3394927" cy="23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spc="2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Tablet 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86157" y="1457360"/>
            <a:ext cx="3394927" cy="23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spc="2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Laptop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42C6B-BE79-3C9E-8488-1A7159737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766277"/>
            <a:ext cx="3021865" cy="30218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D625FC-41C7-37A1-36EA-D9AE556C5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825" y="1766276"/>
            <a:ext cx="3379091" cy="30218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DCAC3D-5AAE-F35C-E9D5-C5A118DB01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506" y="1766276"/>
            <a:ext cx="3714227" cy="3021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6997" y="429523"/>
            <a:ext cx="158803" cy="298095"/>
          </a:xfrm>
          <a:custGeom>
            <a:avLst/>
            <a:gdLst/>
            <a:ahLst/>
            <a:cxnLst/>
            <a:rect l="l" t="t" r="r" b="b"/>
            <a:pathLst>
              <a:path w="238205" h="447142">
                <a:moveTo>
                  <a:pt x="0" y="0"/>
                </a:moveTo>
                <a:lnTo>
                  <a:pt x="238204" y="0"/>
                </a:lnTo>
                <a:lnTo>
                  <a:pt x="238204" y="447142"/>
                </a:lnTo>
                <a:lnTo>
                  <a:pt x="0" y="4471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9058" y="334341"/>
            <a:ext cx="2978661" cy="36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3"/>
              </a:lnSpc>
              <a:spcBef>
                <a:spcPct val="0"/>
              </a:spcBef>
            </a:pPr>
            <a:r>
              <a:rPr lang="en-US" sz="206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Social Media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1" y="1194484"/>
            <a:ext cx="3394927" cy="23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spc="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Instagram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8537" y="1194484"/>
            <a:ext cx="3394927" cy="23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spc="2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Facebook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95940" y="1194484"/>
            <a:ext cx="3394927" cy="23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spc="22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YouTube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E9DE12-8A5C-43A3-22D2-1479BEDC2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08" y="1635642"/>
            <a:ext cx="2877312" cy="43159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FA84FA-7002-BD06-E4B7-45A322129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572" y="1594494"/>
            <a:ext cx="2932176" cy="43982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E82AE8-6339-0AAD-9E61-FB0512E52F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819" y="1525658"/>
            <a:ext cx="2978067" cy="4467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71040" y="1410920"/>
            <a:ext cx="2653727" cy="298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81"/>
              </a:lnSpc>
              <a:spcBef>
                <a:spcPct val="0"/>
              </a:spcBef>
            </a:pPr>
            <a:r>
              <a:rPr lang="en-US" sz="1665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Technical SEO Speed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60880" y="2643934"/>
            <a:ext cx="3782124" cy="298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81"/>
              </a:lnSpc>
              <a:spcBef>
                <a:spcPct val="0"/>
              </a:spcBef>
            </a:pPr>
            <a:r>
              <a:rPr lang="en-US" sz="1665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Content &amp; Keyword Optimization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71040" y="4104649"/>
            <a:ext cx="3372494" cy="298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81"/>
              </a:lnSpc>
              <a:spcBef>
                <a:spcPct val="0"/>
              </a:spcBef>
            </a:pPr>
            <a:r>
              <a:rPr lang="en-US" sz="1665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User Experience Enhancement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99640" y="1718413"/>
            <a:ext cx="5110052" cy="70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33" spc="2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 website loading speed, mobile responsiveness, and crawlability to enhance user experience and search engine rankings.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0880" y="617591"/>
            <a:ext cx="541020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26"/>
              </a:lnSpc>
            </a:pPr>
            <a:r>
              <a:rPr lang="en-US" sz="2666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IMPROVEMENT SUGGESTIONS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99640" y="3159150"/>
            <a:ext cx="5110052" cy="70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33" spc="2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Create keyword-focused blogs, product pages, and FAQs targeting water tanks, water storage, and water conservation search queries.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99640" y="4639843"/>
            <a:ext cx="5110052" cy="70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33" spc="21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 website navigation, add clear call-to-action buttons, optimize mobile usability, and display customer reviews to enhance user experience and increase conversions.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7C7DA8-3245-40A5-DA41-C60F56365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235" y="381651"/>
            <a:ext cx="4063132" cy="60946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9926" y="566764"/>
            <a:ext cx="238074" cy="238074"/>
          </a:xfrm>
          <a:custGeom>
            <a:avLst/>
            <a:gdLst/>
            <a:ahLst/>
            <a:cxnLst/>
            <a:rect l="l" t="t" r="r" b="b"/>
            <a:pathLst>
              <a:path w="357111" h="357111">
                <a:moveTo>
                  <a:pt x="0" y="0"/>
                </a:moveTo>
                <a:lnTo>
                  <a:pt x="357110" y="0"/>
                </a:lnTo>
                <a:lnTo>
                  <a:pt x="357110" y="357110"/>
                </a:lnTo>
                <a:lnTo>
                  <a:pt x="0" y="357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922553" y="2555984"/>
            <a:ext cx="2967585" cy="1346850"/>
            <a:chOff x="0" y="0"/>
            <a:chExt cx="1172379" cy="3854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2379" cy="385428"/>
            </a:xfrm>
            <a:custGeom>
              <a:avLst/>
              <a:gdLst/>
              <a:ahLst/>
              <a:cxnLst/>
              <a:rect l="l" t="t" r="r" b="b"/>
              <a:pathLst>
                <a:path w="1172379" h="385428">
                  <a:moveTo>
                    <a:pt x="62612" y="0"/>
                  </a:moveTo>
                  <a:lnTo>
                    <a:pt x="1109767" y="0"/>
                  </a:lnTo>
                  <a:cubicBezTo>
                    <a:pt x="1144347" y="0"/>
                    <a:pt x="1172379" y="28032"/>
                    <a:pt x="1172379" y="62612"/>
                  </a:cubicBezTo>
                  <a:lnTo>
                    <a:pt x="1172379" y="322816"/>
                  </a:lnTo>
                  <a:cubicBezTo>
                    <a:pt x="1172379" y="339422"/>
                    <a:pt x="1165783" y="355348"/>
                    <a:pt x="1154041" y="367090"/>
                  </a:cubicBezTo>
                  <a:cubicBezTo>
                    <a:pt x="1142299" y="378832"/>
                    <a:pt x="1126373" y="385428"/>
                    <a:pt x="1109767" y="385428"/>
                  </a:cubicBezTo>
                  <a:lnTo>
                    <a:pt x="62612" y="385428"/>
                  </a:lnTo>
                  <a:cubicBezTo>
                    <a:pt x="46006" y="385428"/>
                    <a:pt x="30081" y="378832"/>
                    <a:pt x="18339" y="367090"/>
                  </a:cubicBezTo>
                  <a:cubicBezTo>
                    <a:pt x="6597" y="355348"/>
                    <a:pt x="0" y="339422"/>
                    <a:pt x="0" y="322816"/>
                  </a:cubicBezTo>
                  <a:lnTo>
                    <a:pt x="0" y="62612"/>
                  </a:lnTo>
                  <a:cubicBezTo>
                    <a:pt x="0" y="46006"/>
                    <a:pt x="6597" y="30081"/>
                    <a:pt x="18339" y="18339"/>
                  </a:cubicBezTo>
                  <a:cubicBezTo>
                    <a:pt x="30081" y="6597"/>
                    <a:pt x="46006" y="0"/>
                    <a:pt x="62612" y="0"/>
                  </a:cubicBezTo>
                  <a:close/>
                </a:path>
              </a:pathLst>
            </a:custGeom>
            <a:solidFill>
              <a:srgbClr val="00172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172379" cy="37590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1"/>
                </a:lnSpc>
              </a:pPr>
              <a:endParaRPr sz="12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048567" y="4106468"/>
            <a:ext cx="3207269" cy="1500508"/>
            <a:chOff x="0" y="0"/>
            <a:chExt cx="1172379" cy="46087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72379" cy="460879"/>
            </a:xfrm>
            <a:custGeom>
              <a:avLst/>
              <a:gdLst/>
              <a:ahLst/>
              <a:cxnLst/>
              <a:rect l="l" t="t" r="r" b="b"/>
              <a:pathLst>
                <a:path w="1172379" h="460879">
                  <a:moveTo>
                    <a:pt x="62612" y="0"/>
                  </a:moveTo>
                  <a:lnTo>
                    <a:pt x="1109767" y="0"/>
                  </a:lnTo>
                  <a:cubicBezTo>
                    <a:pt x="1144347" y="0"/>
                    <a:pt x="1172379" y="28032"/>
                    <a:pt x="1172379" y="62612"/>
                  </a:cubicBezTo>
                  <a:lnTo>
                    <a:pt x="1172379" y="398267"/>
                  </a:lnTo>
                  <a:cubicBezTo>
                    <a:pt x="1172379" y="414872"/>
                    <a:pt x="1165783" y="430798"/>
                    <a:pt x="1154041" y="442540"/>
                  </a:cubicBezTo>
                  <a:cubicBezTo>
                    <a:pt x="1142299" y="454282"/>
                    <a:pt x="1126373" y="460879"/>
                    <a:pt x="1109767" y="460879"/>
                  </a:cubicBezTo>
                  <a:lnTo>
                    <a:pt x="62612" y="460879"/>
                  </a:lnTo>
                  <a:cubicBezTo>
                    <a:pt x="46006" y="460879"/>
                    <a:pt x="30081" y="454282"/>
                    <a:pt x="18339" y="442540"/>
                  </a:cubicBezTo>
                  <a:cubicBezTo>
                    <a:pt x="6597" y="430798"/>
                    <a:pt x="0" y="414872"/>
                    <a:pt x="0" y="398267"/>
                  </a:cubicBezTo>
                  <a:lnTo>
                    <a:pt x="0" y="62612"/>
                  </a:lnTo>
                  <a:cubicBezTo>
                    <a:pt x="0" y="46006"/>
                    <a:pt x="6597" y="30081"/>
                    <a:pt x="18339" y="18339"/>
                  </a:cubicBezTo>
                  <a:cubicBezTo>
                    <a:pt x="30081" y="6597"/>
                    <a:pt x="46006" y="0"/>
                    <a:pt x="62612" y="0"/>
                  </a:cubicBezTo>
                  <a:close/>
                </a:path>
              </a:pathLst>
            </a:custGeom>
            <a:solidFill>
              <a:srgbClr val="00172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1172379" cy="45135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1"/>
                </a:lnSpc>
              </a:pPr>
              <a:endParaRPr sz="12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55408" y="2555983"/>
            <a:ext cx="3032904" cy="1389419"/>
            <a:chOff x="0" y="0"/>
            <a:chExt cx="1198184" cy="4199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8184" cy="419966"/>
            </a:xfrm>
            <a:custGeom>
              <a:avLst/>
              <a:gdLst/>
              <a:ahLst/>
              <a:cxnLst/>
              <a:rect l="l" t="t" r="r" b="b"/>
              <a:pathLst>
                <a:path w="1198184" h="419966">
                  <a:moveTo>
                    <a:pt x="61263" y="0"/>
                  </a:moveTo>
                  <a:lnTo>
                    <a:pt x="1136921" y="0"/>
                  </a:lnTo>
                  <a:cubicBezTo>
                    <a:pt x="1170756" y="0"/>
                    <a:pt x="1198184" y="27429"/>
                    <a:pt x="1198184" y="61263"/>
                  </a:cubicBezTo>
                  <a:lnTo>
                    <a:pt x="1198184" y="358702"/>
                  </a:lnTo>
                  <a:cubicBezTo>
                    <a:pt x="1198184" y="374950"/>
                    <a:pt x="1191730" y="390533"/>
                    <a:pt x="1180240" y="402022"/>
                  </a:cubicBezTo>
                  <a:cubicBezTo>
                    <a:pt x="1168751" y="413511"/>
                    <a:pt x="1153169" y="419966"/>
                    <a:pt x="1136921" y="419966"/>
                  </a:cubicBezTo>
                  <a:lnTo>
                    <a:pt x="61263" y="419966"/>
                  </a:lnTo>
                  <a:cubicBezTo>
                    <a:pt x="45015" y="419966"/>
                    <a:pt x="29433" y="413511"/>
                    <a:pt x="17944" y="402022"/>
                  </a:cubicBezTo>
                  <a:cubicBezTo>
                    <a:pt x="6455" y="390533"/>
                    <a:pt x="0" y="374950"/>
                    <a:pt x="0" y="358702"/>
                  </a:cubicBezTo>
                  <a:lnTo>
                    <a:pt x="0" y="61263"/>
                  </a:lnTo>
                  <a:cubicBezTo>
                    <a:pt x="0" y="45015"/>
                    <a:pt x="6455" y="29433"/>
                    <a:pt x="17944" y="17944"/>
                  </a:cubicBezTo>
                  <a:cubicBezTo>
                    <a:pt x="29433" y="6455"/>
                    <a:pt x="45015" y="0"/>
                    <a:pt x="61263" y="0"/>
                  </a:cubicBezTo>
                  <a:close/>
                </a:path>
              </a:pathLst>
            </a:custGeom>
            <a:solidFill>
              <a:srgbClr val="0063C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198184" cy="4104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581"/>
                </a:lnSpc>
              </a:pPr>
              <a:endParaRPr sz="1200"/>
            </a:p>
          </p:txBody>
        </p:sp>
      </p:grpSp>
      <p:sp>
        <p:nvSpPr>
          <p:cNvPr id="15" name="Freeform 15"/>
          <p:cNvSpPr/>
          <p:nvPr/>
        </p:nvSpPr>
        <p:spPr>
          <a:xfrm>
            <a:off x="378195" y="1205436"/>
            <a:ext cx="4735259" cy="124335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161351" y="2751899"/>
            <a:ext cx="1517947" cy="22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sz="1369" b="1" dirty="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Domain Authority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28371" y="393040"/>
            <a:ext cx="473525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sz="2142" b="1" spc="-79" dirty="0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COMPETITION Analysis</a:t>
            </a:r>
          </a:p>
          <a:p>
            <a:pPr algn="ctr">
              <a:lnSpc>
                <a:spcPts val="2420"/>
              </a:lnSpc>
            </a:pPr>
            <a:r>
              <a:rPr lang="en-US" sz="2142" b="1" spc="-79" dirty="0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ELITE AROMA VS BELLAVITA— SEO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43358" y="3137220"/>
            <a:ext cx="2670809" cy="389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143" spc="18" dirty="0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Elite Aroma: New / Developing Brand</a:t>
            </a:r>
          </a:p>
          <a:p>
            <a:pPr>
              <a:lnSpc>
                <a:spcPct val="100000"/>
              </a:lnSpc>
            </a:pPr>
            <a:r>
              <a:rPr lang="en-US" sz="1143" spc="18" dirty="0" err="1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Bellavita</a:t>
            </a:r>
            <a:r>
              <a:rPr lang="en-US" sz="1143" spc="18" dirty="0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IN" sz="1200" dirty="0">
                <a:solidFill>
                  <a:schemeClr val="bg1"/>
                </a:solidFill>
              </a:rPr>
              <a:t>~33 </a:t>
            </a:r>
            <a:r>
              <a:rPr lang="en-US" sz="1143" spc="18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(Established Brand)</a:t>
            </a:r>
            <a:endParaRPr lang="en-US" sz="1143" spc="18" dirty="0">
              <a:solidFill>
                <a:srgbClr val="F8FC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83671" y="4146351"/>
            <a:ext cx="1744587" cy="22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sz="1369" b="1" dirty="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 Strategy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83671" y="4578066"/>
            <a:ext cx="2738845" cy="92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43" spc="18" dirty="0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Elite Aroma: </a:t>
            </a:r>
            <a:r>
              <a:rPr lang="en-IN" sz="1200" dirty="0">
                <a:solidFill>
                  <a:schemeClr val="bg1"/>
                </a:solidFill>
              </a:rPr>
              <a:t>Focused, long-tail &amp; conversion-oriented content strategy</a:t>
            </a:r>
            <a:endParaRPr lang="en-US" sz="1143" spc="18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ct val="100000"/>
              </a:lnSpc>
            </a:pPr>
            <a:r>
              <a:rPr lang="en-US" sz="1143" spc="18" dirty="0" err="1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Bellavita</a:t>
            </a:r>
            <a:r>
              <a:rPr lang="en-US" sz="1143" spc="18" dirty="0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IN" sz="1200" dirty="0">
                <a:solidFill>
                  <a:schemeClr val="bg1"/>
                </a:solidFill>
              </a:rPr>
              <a:t>Broad &amp; established content strategy</a:t>
            </a:r>
            <a:endParaRPr lang="en-US" sz="1143" spc="18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1601"/>
              </a:lnSpc>
            </a:pPr>
            <a:endParaRPr lang="en-US" sz="1143" spc="18" dirty="0">
              <a:solidFill>
                <a:srgbClr val="F8FC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920190" y="2647767"/>
            <a:ext cx="2256754" cy="22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7"/>
              </a:lnSpc>
            </a:pPr>
            <a:r>
              <a:rPr lang="en-US" sz="1369" b="1" dirty="0">
                <a:solidFill>
                  <a:srgbClr val="F8FC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Keyword Strategy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28884" y="2977650"/>
            <a:ext cx="2685951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43" spc="18" dirty="0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Elite Aroma : </a:t>
            </a:r>
            <a:r>
              <a:rPr lang="en-IN" sz="1200" dirty="0">
                <a:solidFill>
                  <a:schemeClr val="bg1"/>
                </a:solidFill>
              </a:rPr>
              <a:t>premium perfumes, luxury fragrances</a:t>
            </a:r>
            <a:endParaRPr lang="en-US" sz="1143" spc="18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ct val="100000"/>
              </a:lnSpc>
            </a:pPr>
            <a:r>
              <a:rPr lang="en-US" sz="1143" spc="18" dirty="0" err="1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Bellavita</a:t>
            </a:r>
            <a:r>
              <a:rPr lang="en-US" sz="1143" spc="18" dirty="0">
                <a:solidFill>
                  <a:srgbClr val="F8FCFF"/>
                </a:solidFill>
                <a:latin typeface="Open Sauce"/>
                <a:ea typeface="Open Sauce"/>
                <a:cs typeface="Open Sauce"/>
                <a:sym typeface="Open Sauce"/>
              </a:rPr>
              <a:t> : </a:t>
            </a:r>
            <a:r>
              <a:rPr lang="en-IN" sz="1200" dirty="0">
                <a:solidFill>
                  <a:schemeClr val="bg1"/>
                </a:solidFill>
              </a:rPr>
              <a:t>perfumes, perfumes for men, perfumes for women</a:t>
            </a:r>
            <a:endParaRPr lang="en-US" sz="1143" spc="18" dirty="0">
              <a:solidFill>
                <a:schemeClr val="bg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CFC7433-2B74-6BE5-A276-D7CC63D223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12" y="4409211"/>
            <a:ext cx="2009082" cy="2073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C82C70-3CC7-8E0F-8F3B-C1D5D2DD9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936" y="342556"/>
            <a:ext cx="2352643" cy="25826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6DAF25-88B1-E2F8-82CB-94995EB10B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9357" y="4578066"/>
            <a:ext cx="2747283" cy="19932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4583" y="3538806"/>
            <a:ext cx="3376325" cy="296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81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SEO Growth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98036" y="2272905"/>
            <a:ext cx="2216947" cy="296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81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Takeaways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791200" y="1080083"/>
            <a:ext cx="5302765" cy="4697835"/>
            <a:chOff x="0" y="0"/>
            <a:chExt cx="668302" cy="5920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8302" cy="592064"/>
            </a:xfrm>
            <a:custGeom>
              <a:avLst/>
              <a:gdLst/>
              <a:ahLst/>
              <a:cxnLst/>
              <a:rect l="l" t="t" r="r" b="b"/>
              <a:pathLst>
                <a:path w="668302" h="592064">
                  <a:moveTo>
                    <a:pt x="66405" y="0"/>
                  </a:moveTo>
                  <a:lnTo>
                    <a:pt x="601897" y="0"/>
                  </a:lnTo>
                  <a:cubicBezTo>
                    <a:pt x="638572" y="0"/>
                    <a:pt x="668302" y="29731"/>
                    <a:pt x="668302" y="66405"/>
                  </a:cubicBezTo>
                  <a:lnTo>
                    <a:pt x="668302" y="525659"/>
                  </a:lnTo>
                  <a:cubicBezTo>
                    <a:pt x="668302" y="562333"/>
                    <a:pt x="638572" y="592064"/>
                    <a:pt x="601897" y="592064"/>
                  </a:cubicBezTo>
                  <a:lnTo>
                    <a:pt x="66405" y="592064"/>
                  </a:lnTo>
                  <a:cubicBezTo>
                    <a:pt x="29731" y="592064"/>
                    <a:pt x="0" y="562333"/>
                    <a:pt x="0" y="525659"/>
                  </a:cubicBezTo>
                  <a:lnTo>
                    <a:pt x="0" y="66405"/>
                  </a:lnTo>
                  <a:cubicBezTo>
                    <a:pt x="0" y="29731"/>
                    <a:pt x="29731" y="0"/>
                    <a:pt x="66405" y="0"/>
                  </a:cubicBez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10" b="-10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14583" y="431800"/>
            <a:ext cx="4466991" cy="732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56"/>
              </a:lnSpc>
            </a:pPr>
            <a:r>
              <a:rPr lang="en-US" sz="4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5836" y="2627420"/>
            <a:ext cx="3367327" cy="77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5"/>
              </a:lnSpc>
              <a:spcBef>
                <a:spcPct val="0"/>
              </a:spcBef>
            </a:pPr>
            <a:r>
              <a:rPr lang="en-US" sz="133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On-page &amp; technical SEO optimize performance, crawlability, and search engine rankings effectively.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4583" y="1285028"/>
            <a:ext cx="3146101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5"/>
              </a:lnSpc>
              <a:spcBef>
                <a:spcPct val="0"/>
              </a:spcBef>
            </a:pPr>
            <a:r>
              <a:rPr lang="en-US" sz="133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SEO strategy drives Elite Aroma's digital growth, visibility, and market expansion.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5835" y="5009625"/>
            <a:ext cx="2258668" cy="820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333" dirty="0"/>
              <a:t>• Keyword Targeting</a:t>
            </a:r>
          </a:p>
          <a:p>
            <a:r>
              <a:rPr lang="en-IN" sz="1333" dirty="0"/>
              <a:t>• On-Page SEO</a:t>
            </a:r>
          </a:p>
          <a:p>
            <a:r>
              <a:rPr lang="en-IN" sz="1333" dirty="0"/>
              <a:t>• Off-Page SEO</a:t>
            </a:r>
          </a:p>
          <a:p>
            <a:r>
              <a:rPr lang="en-IN" sz="1333" dirty="0"/>
              <a:t>• Technical SEO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836" y="3825116"/>
            <a:ext cx="3889450" cy="779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65"/>
              </a:lnSpc>
              <a:spcBef>
                <a:spcPct val="0"/>
              </a:spcBef>
            </a:pPr>
            <a:r>
              <a:rPr lang="en-US" sz="1332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Off-page strategies and competitor insights accelerate Elite Aroma's brand authority and market reach.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4DA639D-D76B-A402-FAE1-2E6ECCC65B00}"/>
              </a:ext>
            </a:extLst>
          </p:cNvPr>
          <p:cNvSpPr txBox="1"/>
          <p:nvPr/>
        </p:nvSpPr>
        <p:spPr>
          <a:xfrm>
            <a:off x="1114583" y="4715340"/>
            <a:ext cx="2258668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600" b="1" dirty="0"/>
              <a:t>SEO Success Factors</a:t>
            </a:r>
            <a:endParaRPr lang="en-IN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D650BB-0F30-EA4E-2246-58D14F09E4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069" y="837685"/>
            <a:ext cx="7325863" cy="518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0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815</Words>
  <Application>Microsoft Office PowerPoint</Application>
  <PresentationFormat>Widescreen</PresentationFormat>
  <Paragraphs>129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Calibri (MS)</vt:lpstr>
      <vt:lpstr>Calibri (MS) Bold</vt:lpstr>
      <vt:lpstr>Calibri (MS) Light</vt:lpstr>
      <vt:lpstr>Calibri-Bold</vt:lpstr>
      <vt:lpstr>Open Sauce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sakshikotwani12@gmail.com</dc:creator>
  <cp:lastModifiedBy>sakshikotwani12@gmail.com</cp:lastModifiedBy>
  <cp:revision>2</cp:revision>
  <dcterms:created xsi:type="dcterms:W3CDTF">2026-09-16T14:21:09Z</dcterms:created>
  <dcterms:modified xsi:type="dcterms:W3CDTF">2026-09-21T13:59:30Z</dcterms:modified>
</cp:coreProperties>
</file>