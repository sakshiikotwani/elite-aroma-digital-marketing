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3"/>
  </p:notesMasterIdLst>
  <p:sldIdLst>
    <p:sldId id="278" r:id="rId2"/>
    <p:sldId id="273" r:id="rId3"/>
    <p:sldId id="274" r:id="rId4"/>
    <p:sldId id="275" r:id="rId5"/>
    <p:sldId id="276" r:id="rId6"/>
    <p:sldId id="279" r:id="rId7"/>
    <p:sldId id="318" r:id="rId8"/>
    <p:sldId id="305" r:id="rId9"/>
    <p:sldId id="306" r:id="rId10"/>
    <p:sldId id="307" r:id="rId11"/>
    <p:sldId id="319" r:id="rId12"/>
    <p:sldId id="320" r:id="rId13"/>
    <p:sldId id="309" r:id="rId14"/>
    <p:sldId id="310" r:id="rId15"/>
    <p:sldId id="311" r:id="rId16"/>
    <p:sldId id="312" r:id="rId17"/>
    <p:sldId id="313" r:id="rId18"/>
    <p:sldId id="314" r:id="rId19"/>
    <p:sldId id="315" r:id="rId20"/>
    <p:sldId id="316" r:id="rId21"/>
    <p:sldId id="304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BC21100-22ED-496B-B4DB-08846E1D8EA4}" v="3" dt="2026-09-28T14:38:47.06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2309" autoAdjust="0"/>
    <p:restoredTop sz="94660"/>
  </p:normalViewPr>
  <p:slideViewPr>
    <p:cSldViewPr snapToGrid="0" showGuides="1">
      <p:cViewPr varScale="1">
        <p:scale>
          <a:sx n="70" d="100"/>
          <a:sy n="70" d="100"/>
        </p:scale>
        <p:origin x="256" y="5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96B12B7-AB0E-4612-BD94-C1F798831CD8}" type="datetimeFigureOut">
              <a:rPr lang="en-IN" smtClean="0"/>
              <a:t>29-09-2026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014F0D9-5ECA-4CAE-A0FD-D1354B70E23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87513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261C57-651F-C12B-3FB1-09CE0845E8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0CC6CDA-46D3-5FC1-CC96-94AEDC2E86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E90301E-01DF-7F7B-5CEE-32D277E22D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37E6A3-275A-87F4-076F-53A5B77725F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509057-1842-46BE-A23A-03C178CA0D95}" type="slidenum">
              <a:rPr lang="en-IN" smtClean="0"/>
              <a:t>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2695614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79D14C-0D82-7E51-3402-F57187656C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FD353B7-FF4C-342F-4176-457D4953144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3038B1-378C-A674-683B-C4F45A5AC8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730214-D38A-42C6-8F7C-8553C6C1E701}" type="datetimeFigureOut">
              <a:rPr lang="en-IN" smtClean="0"/>
              <a:t>29-09-2026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6054A6-1189-5E7A-AC02-F65FF26519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F5D705-9E56-8337-CF4D-B44144B607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17A14-36C6-4021-9A1E-99406C2F3B5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755334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DF998B-F3F1-B39B-44BB-B4175534FA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B07AC0-5301-3A12-6693-36632C5A35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260297-A2A3-4383-1AA0-319A7139E1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730214-D38A-42C6-8F7C-8553C6C1E701}" type="datetimeFigureOut">
              <a:rPr lang="en-IN" smtClean="0"/>
              <a:t>29-09-2026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14082F-7CBC-25DB-BCE0-405A980749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07D3F7-D055-596C-4B67-853980AED4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17A14-36C6-4021-9A1E-99406C2F3B5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437286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56335D-95E7-2D71-D7C1-FC328DACAD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017022B-F2A3-DAED-B25D-BF48925F7E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D0D578-C178-BCB4-91A6-0231FDCC0A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730214-D38A-42C6-8F7C-8553C6C1E701}" type="datetimeFigureOut">
              <a:rPr lang="en-IN" smtClean="0"/>
              <a:t>29-09-2026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ADD6F6-862A-6366-AD2A-F2587E2C9B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D69F1D-D2F5-EF84-56C0-1ED26B9D9A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17A14-36C6-4021-9A1E-99406C2F3B5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756176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C5D9D7-717A-38B7-536D-B800E9C90A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92D4D5-A3E2-A629-974D-942996E5228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8D2244-ACC3-4AE0-B921-9E83D8FA3EB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F1ABDE8-5D3C-953B-0B80-41BF084F52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730214-D38A-42C6-8F7C-8553C6C1E701}" type="datetimeFigureOut">
              <a:rPr lang="en-IN" smtClean="0"/>
              <a:t>29-09-2026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CDA0F2-2D61-9177-E35D-F6FA36D3B1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5E51116-6C5D-7A8C-62D4-BDAEF34563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17A14-36C6-4021-9A1E-99406C2F3B5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311262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8D3190-B86D-F947-8AC1-29C755E144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291701-2835-001A-6F77-D157D243352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82727F9-8E70-A83D-511A-7FAE8C0BA3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2887FFC-0F31-64C4-9F65-B1F5DCB8EFD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B829D88-9E23-7FF3-2744-E81D23EA09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4694DC2-035B-AF7F-0D1C-42CD3A6A87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730214-D38A-42C6-8F7C-8553C6C1E701}" type="datetimeFigureOut">
              <a:rPr lang="en-IN" smtClean="0"/>
              <a:t>29-09-2026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31E8F6D-5B41-0401-C4DE-904025977A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D6178A9-FD32-6729-217F-55A90253C3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17A14-36C6-4021-9A1E-99406C2F3B5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196439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9CBEFE-53AE-3BEE-129C-7CA81F4858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1617C55-6063-35FE-68E6-DE9F78D060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730214-D38A-42C6-8F7C-8553C6C1E701}" type="datetimeFigureOut">
              <a:rPr lang="en-IN" smtClean="0"/>
              <a:t>29-09-2026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CFF7307-07FF-43B2-1F60-91CACFA4DC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1C534E0-EC43-DFF5-02AE-611F2AB246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17A14-36C6-4021-9A1E-99406C2F3B5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780782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7B532B1-2440-5C44-B912-2C4264D9DF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730214-D38A-42C6-8F7C-8553C6C1E701}" type="datetimeFigureOut">
              <a:rPr lang="en-IN" smtClean="0"/>
              <a:t>29-09-2026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E6EF79D-4C46-C1C2-5D78-AD90210F3A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7ED07F-C27C-39A5-EA42-88F3750B9D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17A14-36C6-4021-9A1E-99406C2F3B5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816468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67FD36-FBB2-F1FB-8285-0EEE4AF8C5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ABAEC7-FC3D-4830-3477-BDFAC3D386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E092F2B-B904-1FC9-7BEE-F0FCFFCE364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3B889DB-5E41-EC64-043A-70CAB2BB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730214-D38A-42C6-8F7C-8553C6C1E701}" type="datetimeFigureOut">
              <a:rPr lang="en-IN" smtClean="0"/>
              <a:t>29-09-2026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699AF1E-429E-095F-5B55-1765EB0C7A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979D2F3-18B1-EDBD-CFDD-C49519B651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17A14-36C6-4021-9A1E-99406C2F3B5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51128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C460F0-F9CE-C208-5086-4F53257A99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B9FA021-3C72-0178-585E-FA2E437507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9B7EA6B-9EFE-26D5-08DF-FE46CF01DC9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2AE46B3-166E-15D1-46FC-DC0F5302C0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730214-D38A-42C6-8F7C-8553C6C1E701}" type="datetimeFigureOut">
              <a:rPr lang="en-IN" smtClean="0"/>
              <a:t>29-09-2026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48D2EAF-AA59-D659-9138-1B16C824CC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2EC0DC3-72D7-93D1-EEB0-1BD882551C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17A14-36C6-4021-9A1E-99406C2F3B5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360625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839E26-D11D-0C52-36CE-4B95D4BD8C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1335604-88A1-54F3-E649-35525B9059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EE455A-95B3-BAC7-7CB6-BDC9BF6013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730214-D38A-42C6-8F7C-8553C6C1E701}" type="datetimeFigureOut">
              <a:rPr lang="en-IN" smtClean="0"/>
              <a:t>29-09-2026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6C0049-DF48-04C5-B32F-10B9AABB2E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F6063C-2D27-905C-F4F7-89A65C5B2B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17A14-36C6-4021-9A1E-99406C2F3B5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110899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ED41173-F004-32C6-C90D-118021B59EE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FDB3EA3-FDE3-8571-2B4E-1061B687BDA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28B777-4B97-684E-93FB-F0CFC83A04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730214-D38A-42C6-8F7C-8553C6C1E701}" type="datetimeFigureOut">
              <a:rPr lang="en-IN" smtClean="0"/>
              <a:t>29-09-2026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DC3E0F-9D92-DB75-7E18-F55BACF90E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38FAD5-95A8-77C4-ECB3-C467061B13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17A14-36C6-4021-9A1E-99406C2F3B5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734500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58D818F-853E-5DC9-FB7E-D5F55BC509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4F4F9D-80D9-DDBF-8410-1109E3E580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912036-949A-D18A-97D7-0CD4731A906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D730214-D38A-42C6-8F7C-8553C6C1E701}" type="datetimeFigureOut">
              <a:rPr lang="en-IN" smtClean="0"/>
              <a:t>29-09-2026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C21D19-DA54-C63C-0F2A-722D487FFD3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75742A-7389-896B-4914-9F802BF0AD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EA17A14-36C6-4021-9A1E-99406C2F3B5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06476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3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7.png"/></Relationships>
</file>

<file path=ppt/slides/_rels/slide14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8.png"/></Relationships>
</file>

<file path=ppt/slides/_rels/slide15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9.png"/></Relationships>
</file>

<file path=ppt/slides/_rels/slide16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0.png"/></Relationships>
</file>

<file path=ppt/slides/_rels/slide17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1.png"/></Relationships>
</file>

<file path=ppt/slides/_rels/slide18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2.png"/></Relationships>
</file>

<file path=ppt/slides/_rels/slide19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3.png"/></Relationships>
</file>

<file path=ppt/slides/_rels/slide20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6843BF-5924-41D3-0EBA-CC640DD3F4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8406B36-4EFE-9550-F4E4-F40EB8A72E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3" y="0"/>
            <a:ext cx="1217823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46693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AEB13EC-26ED-EE27-44A5-B2DD2D1F9223}"/>
              </a:ext>
            </a:extLst>
          </p:cNvPr>
          <p:cNvSpPr txBox="1"/>
          <p:nvPr/>
        </p:nvSpPr>
        <p:spPr>
          <a:xfrm>
            <a:off x="5086483" y="822646"/>
            <a:ext cx="2184400" cy="3749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  <a:buNone/>
            </a:pPr>
            <a:r>
              <a:rPr lang="en-IN" sz="1600" b="1" dirty="0">
                <a:solidFill>
                  <a:srgbClr val="000000"/>
                </a:solidFill>
                <a:latin typeface="Calibri-Bold"/>
              </a:rPr>
              <a:t>Assignment Folio of </a:t>
            </a:r>
            <a:endParaRPr lang="en-IN" sz="1333" dirty="0"/>
          </a:p>
          <a:p>
            <a:pPr algn="ctr">
              <a:lnSpc>
                <a:spcPct val="150000"/>
              </a:lnSpc>
              <a:buNone/>
            </a:pPr>
            <a:r>
              <a:rPr lang="en-IN" sz="1600" dirty="0">
                <a:solidFill>
                  <a:srgbClr val="000000"/>
                </a:solidFill>
                <a:latin typeface="Calibri" panose="020F0502020204030204" pitchFamily="34" charset="0"/>
              </a:rPr>
              <a:t>Digital Marketing </a:t>
            </a:r>
            <a:endParaRPr lang="en-IN" sz="1333" dirty="0"/>
          </a:p>
          <a:p>
            <a:pPr algn="ctr">
              <a:lnSpc>
                <a:spcPct val="150000"/>
              </a:lnSpc>
              <a:buNone/>
            </a:pPr>
            <a:r>
              <a:rPr lang="en-IN" sz="1600" b="1" dirty="0">
                <a:solidFill>
                  <a:srgbClr val="000000"/>
                </a:solidFill>
                <a:latin typeface="Calibri-Bold"/>
              </a:rPr>
              <a:t>Submitted to </a:t>
            </a:r>
            <a:endParaRPr lang="en-IN" sz="1333" dirty="0"/>
          </a:p>
          <a:p>
            <a:pPr algn="ctr">
              <a:lnSpc>
                <a:spcPct val="150000"/>
              </a:lnSpc>
              <a:buNone/>
            </a:pPr>
            <a:r>
              <a:rPr lang="en-IN" sz="1600" dirty="0" err="1">
                <a:solidFill>
                  <a:srgbClr val="000000"/>
                </a:solidFill>
                <a:latin typeface="Calibri" panose="020F0502020204030204" pitchFamily="34" charset="0"/>
              </a:rPr>
              <a:t>Dezyne</a:t>
            </a:r>
            <a:r>
              <a:rPr lang="en-IN" sz="1600" dirty="0">
                <a:solidFill>
                  <a:srgbClr val="000000"/>
                </a:solidFill>
                <a:latin typeface="Calibri" panose="020F0502020204030204" pitchFamily="34" charset="0"/>
              </a:rPr>
              <a:t> École College </a:t>
            </a:r>
            <a:endParaRPr lang="en-IN" sz="1333" dirty="0"/>
          </a:p>
          <a:p>
            <a:pPr algn="ctr">
              <a:lnSpc>
                <a:spcPct val="150000"/>
              </a:lnSpc>
              <a:buNone/>
            </a:pPr>
            <a:r>
              <a:rPr lang="en-IN" sz="1600" dirty="0">
                <a:solidFill>
                  <a:srgbClr val="000000"/>
                </a:solidFill>
                <a:latin typeface="Calibri" panose="020F0502020204030204" pitchFamily="34" charset="0"/>
              </a:rPr>
              <a:t>Toward Digital Marketing </a:t>
            </a:r>
            <a:endParaRPr lang="en-IN" sz="1333" dirty="0"/>
          </a:p>
          <a:p>
            <a:pPr algn="ctr">
              <a:lnSpc>
                <a:spcPct val="150000"/>
              </a:lnSpc>
              <a:buNone/>
            </a:pPr>
            <a:r>
              <a:rPr lang="en-IN" sz="1600" b="1" dirty="0">
                <a:solidFill>
                  <a:srgbClr val="000000"/>
                </a:solidFill>
                <a:latin typeface="Calibri-Bold"/>
              </a:rPr>
              <a:t>By </a:t>
            </a:r>
            <a:endParaRPr lang="en-IN" sz="1333" dirty="0"/>
          </a:p>
          <a:p>
            <a:pPr algn="ctr">
              <a:lnSpc>
                <a:spcPct val="150000"/>
              </a:lnSpc>
              <a:buNone/>
            </a:pPr>
            <a:r>
              <a:rPr lang="en-IN" sz="1600" dirty="0">
                <a:solidFill>
                  <a:srgbClr val="000000"/>
                </a:solidFill>
                <a:latin typeface="Calibri" panose="020F0502020204030204" pitchFamily="34" charset="0"/>
              </a:rPr>
              <a:t>BCA</a:t>
            </a:r>
            <a:endParaRPr lang="en-IN" sz="1333" dirty="0"/>
          </a:p>
          <a:p>
            <a:pPr algn="ctr">
              <a:lnSpc>
                <a:spcPct val="150000"/>
              </a:lnSpc>
              <a:buNone/>
            </a:pPr>
            <a:r>
              <a:rPr lang="en-IN" sz="1600" dirty="0">
                <a:solidFill>
                  <a:srgbClr val="000000"/>
                </a:solidFill>
                <a:latin typeface="Calibri" panose="020F0502020204030204" pitchFamily="34" charset="0"/>
              </a:rPr>
              <a:t>3</a:t>
            </a:r>
            <a:r>
              <a:rPr lang="en-IN" sz="1600" baseline="30000" dirty="0">
                <a:solidFill>
                  <a:srgbClr val="000000"/>
                </a:solidFill>
                <a:latin typeface="Calibri" panose="020F0502020204030204" pitchFamily="34" charset="0"/>
              </a:rPr>
              <a:t>rd</a:t>
            </a:r>
            <a:r>
              <a:rPr lang="en-IN" sz="933" dirty="0">
                <a:solidFill>
                  <a:srgbClr val="000000"/>
                </a:solidFill>
                <a:latin typeface="Calibri" panose="020F0502020204030204" pitchFamily="34" charset="0"/>
              </a:rPr>
              <a:t> </a:t>
            </a:r>
            <a:r>
              <a:rPr lang="en-IN" sz="1600" dirty="0">
                <a:solidFill>
                  <a:srgbClr val="000000"/>
                </a:solidFill>
                <a:latin typeface="Calibri" panose="020F0502020204030204" pitchFamily="34" charset="0"/>
              </a:rPr>
              <a:t>Semester </a:t>
            </a:r>
            <a:endParaRPr lang="en-IN" sz="1333" dirty="0"/>
          </a:p>
          <a:p>
            <a:pPr algn="ctr">
              <a:lnSpc>
                <a:spcPct val="150000"/>
              </a:lnSpc>
              <a:buNone/>
            </a:pPr>
            <a:r>
              <a:rPr lang="en-IN" sz="1600" dirty="0">
                <a:solidFill>
                  <a:srgbClr val="000000"/>
                </a:solidFill>
                <a:latin typeface="Calibri" panose="020F0502020204030204" pitchFamily="34" charset="0"/>
              </a:rPr>
              <a:t>Sakshi Kotwani</a:t>
            </a:r>
            <a:endParaRPr lang="en-IN" sz="1333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B50A74A-4634-1C3A-DA39-EDAD7B948D52}"/>
              </a:ext>
            </a:extLst>
          </p:cNvPr>
          <p:cNvSpPr txBox="1"/>
          <p:nvPr/>
        </p:nvSpPr>
        <p:spPr>
          <a:xfrm>
            <a:off x="5086483" y="5003800"/>
            <a:ext cx="2184400" cy="13033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  <a:buNone/>
            </a:pPr>
            <a:r>
              <a:rPr lang="en-IN" sz="1345" dirty="0" err="1">
                <a:solidFill>
                  <a:srgbClr val="000000"/>
                </a:solidFill>
                <a:latin typeface="Calibri" panose="020F0502020204030204" pitchFamily="34" charset="0"/>
              </a:rPr>
              <a:t>Dezyne</a:t>
            </a:r>
            <a:r>
              <a:rPr lang="en-IN" sz="1345" dirty="0">
                <a:solidFill>
                  <a:srgbClr val="000000"/>
                </a:solidFill>
                <a:latin typeface="Calibri" panose="020F0502020204030204" pitchFamily="34" charset="0"/>
              </a:rPr>
              <a:t> École College </a:t>
            </a:r>
            <a:endParaRPr lang="en-IN" sz="1200" dirty="0"/>
          </a:p>
          <a:p>
            <a:pPr algn="ctr">
              <a:lnSpc>
                <a:spcPct val="150000"/>
              </a:lnSpc>
              <a:buNone/>
            </a:pPr>
            <a:r>
              <a:rPr lang="en-IN" sz="1344" dirty="0">
                <a:solidFill>
                  <a:srgbClr val="000000"/>
                </a:solidFill>
                <a:latin typeface="Calibri" panose="020F0502020204030204" pitchFamily="34" charset="0"/>
              </a:rPr>
              <a:t>106/10, Civil Lines, Ajmer </a:t>
            </a:r>
            <a:endParaRPr lang="en-IN" sz="1200" dirty="0"/>
          </a:p>
          <a:p>
            <a:pPr algn="ctr">
              <a:lnSpc>
                <a:spcPct val="150000"/>
              </a:lnSpc>
              <a:buNone/>
            </a:pPr>
            <a:r>
              <a:rPr lang="en-IN" sz="1344" dirty="0">
                <a:solidFill>
                  <a:srgbClr val="0563C1"/>
                </a:solidFill>
                <a:latin typeface="Calibri" panose="020F0502020204030204" pitchFamily="34" charset="0"/>
              </a:rPr>
              <a:t>www.dezyneecole.com </a:t>
            </a:r>
            <a:endParaRPr lang="en-IN" sz="1200" dirty="0"/>
          </a:p>
          <a:p>
            <a:pPr algn="ctr">
              <a:lnSpc>
                <a:spcPct val="150000"/>
              </a:lnSpc>
              <a:buNone/>
            </a:pPr>
            <a:r>
              <a:rPr lang="en-IN" sz="1344" dirty="0">
                <a:solidFill>
                  <a:srgbClr val="000000"/>
                </a:solidFill>
                <a:latin typeface="Calibri" panose="020F0502020204030204" pitchFamily="34" charset="0"/>
              </a:rPr>
              <a:t>2026-2027</a:t>
            </a:r>
            <a:endParaRPr lang="en-IN" sz="1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0EA7E42-3A26-054A-D88A-95B766956A64}"/>
              </a:ext>
            </a:extLst>
          </p:cNvPr>
          <p:cNvSpPr txBox="1"/>
          <p:nvPr/>
        </p:nvSpPr>
        <p:spPr>
          <a:xfrm>
            <a:off x="5454916" y="4572199"/>
            <a:ext cx="1447534" cy="369332"/>
          </a:xfrm>
          <a:prstGeom prst="rect">
            <a:avLst/>
          </a:prstGeom>
          <a:blipFill dpi="0"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txBody>
          <a:bodyPr wrap="square" rtlCol="0">
            <a:spAutoFit/>
          </a:bodyPr>
          <a:lstStyle/>
          <a:p>
            <a:endParaRPr lang="en-IN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D2F0550-94A1-FBDC-039C-D0EB5C4FF530}"/>
              </a:ext>
            </a:extLst>
          </p:cNvPr>
          <p:cNvSpPr txBox="1"/>
          <p:nvPr/>
        </p:nvSpPr>
        <p:spPr>
          <a:xfrm>
            <a:off x="508000" y="787400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600" b="1" dirty="0">
                <a:solidFill>
                  <a:srgbClr val="000000"/>
                </a:solidFill>
                <a:latin typeface="Calibri-Bold"/>
              </a:rPr>
              <a:t>ASSIGNMENT FOLIO</a:t>
            </a:r>
            <a:endParaRPr lang="en-IN" sz="1867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475D537-37F4-A0CE-9312-76D462FB4E9F}"/>
              </a:ext>
            </a:extLst>
          </p:cNvPr>
          <p:cNvSpPr txBox="1"/>
          <p:nvPr/>
        </p:nvSpPr>
        <p:spPr>
          <a:xfrm>
            <a:off x="9296400" y="416841"/>
            <a:ext cx="28956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1600" b="1" dirty="0"/>
              <a:t>Assignment Report</a:t>
            </a:r>
            <a:endParaRPr lang="en-IN" sz="2133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327FBA3-4DD0-AB9D-C22D-1122D16EBA2B}"/>
              </a:ext>
            </a:extLst>
          </p:cNvPr>
          <p:cNvSpPr txBox="1"/>
          <p:nvPr/>
        </p:nvSpPr>
        <p:spPr>
          <a:xfrm>
            <a:off x="518160" y="386080"/>
            <a:ext cx="28956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600" b="1" dirty="0">
                <a:solidFill>
                  <a:schemeClr val="accent1"/>
                </a:solidFill>
              </a:rPr>
              <a:t>Digital Marketing</a:t>
            </a:r>
            <a:endParaRPr lang="en-IN" sz="2667" dirty="0">
              <a:solidFill>
                <a:schemeClr val="accent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D8E334B-6BAC-F519-E8AA-AF7C1B257022}"/>
              </a:ext>
            </a:extLst>
          </p:cNvPr>
          <p:cNvSpPr txBox="1"/>
          <p:nvPr/>
        </p:nvSpPr>
        <p:spPr>
          <a:xfrm>
            <a:off x="513080" y="603313"/>
            <a:ext cx="111658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600" dirty="0">
                <a:solidFill>
                  <a:srgbClr val="000000"/>
                </a:solidFill>
                <a:latin typeface="Calibri-Bold"/>
              </a:rPr>
              <a:t>--------------------------------------------------------------------------------------------------------------------------------------------------------------------------------</a:t>
            </a:r>
            <a:endParaRPr lang="en-IN" sz="1867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3185B20-FC65-089D-DB93-1FE99D2E146C}"/>
              </a:ext>
            </a:extLst>
          </p:cNvPr>
          <p:cNvSpPr txBox="1"/>
          <p:nvPr/>
        </p:nvSpPr>
        <p:spPr>
          <a:xfrm>
            <a:off x="528320" y="6287270"/>
            <a:ext cx="111658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600" dirty="0">
                <a:solidFill>
                  <a:srgbClr val="000000"/>
                </a:solidFill>
                <a:latin typeface="Calibri-Bold"/>
              </a:rPr>
              <a:t>--------------------------------------------------------------------------------------------------------------------------------------------------------------------------------</a:t>
            </a:r>
            <a:endParaRPr lang="en-IN" sz="1867" dirty="0"/>
          </a:p>
        </p:txBody>
      </p:sp>
    </p:spTree>
    <p:extLst>
      <p:ext uri="{BB962C8B-B14F-4D97-AF65-F5344CB8AC3E}">
        <p14:creationId xmlns:p14="http://schemas.microsoft.com/office/powerpoint/2010/main" val="30099276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3041502-3019-C200-A4C0-4F0FB47E909D}"/>
              </a:ext>
            </a:extLst>
          </p:cNvPr>
          <p:cNvSpPr txBox="1"/>
          <p:nvPr/>
        </p:nvSpPr>
        <p:spPr>
          <a:xfrm>
            <a:off x="508000" y="787400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600" b="1" dirty="0">
                <a:solidFill>
                  <a:srgbClr val="000000"/>
                </a:solidFill>
                <a:latin typeface="Calibri-Bold"/>
              </a:rPr>
              <a:t>ASSIGNMENT FOLIO</a:t>
            </a:r>
            <a:endParaRPr lang="en-IN" sz="1867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FA562EC-37A1-BEEA-9EBB-856FDF8F5D87}"/>
              </a:ext>
            </a:extLst>
          </p:cNvPr>
          <p:cNvSpPr txBox="1"/>
          <p:nvPr/>
        </p:nvSpPr>
        <p:spPr>
          <a:xfrm>
            <a:off x="9296400" y="416841"/>
            <a:ext cx="28956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1600" b="1" dirty="0"/>
              <a:t>Acknowledgement</a:t>
            </a:r>
            <a:endParaRPr lang="en-IN" sz="2667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B806327-027E-46D5-A545-4125E248BF58}"/>
              </a:ext>
            </a:extLst>
          </p:cNvPr>
          <p:cNvSpPr txBox="1"/>
          <p:nvPr/>
        </p:nvSpPr>
        <p:spPr>
          <a:xfrm>
            <a:off x="518160" y="386080"/>
            <a:ext cx="28956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600" b="1" dirty="0">
                <a:solidFill>
                  <a:schemeClr val="accent1"/>
                </a:solidFill>
              </a:rPr>
              <a:t>Digital Marketing</a:t>
            </a:r>
            <a:endParaRPr lang="en-IN" sz="2667" dirty="0">
              <a:solidFill>
                <a:schemeClr val="accent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A354051-ED13-9F40-954C-C3EE845613BF}"/>
              </a:ext>
            </a:extLst>
          </p:cNvPr>
          <p:cNvSpPr txBox="1"/>
          <p:nvPr/>
        </p:nvSpPr>
        <p:spPr>
          <a:xfrm>
            <a:off x="513080" y="603313"/>
            <a:ext cx="111658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600" dirty="0">
                <a:solidFill>
                  <a:srgbClr val="000000"/>
                </a:solidFill>
                <a:latin typeface="Calibri-Bold"/>
              </a:rPr>
              <a:t>--------------------------------------------------------------------------------------------------------------------------------------------------------------------------------</a:t>
            </a:r>
            <a:endParaRPr lang="en-IN" sz="1867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7223780-E417-81F9-02FD-B8194EF44570}"/>
              </a:ext>
            </a:extLst>
          </p:cNvPr>
          <p:cNvSpPr txBox="1"/>
          <p:nvPr/>
        </p:nvSpPr>
        <p:spPr>
          <a:xfrm>
            <a:off x="477520" y="1394545"/>
            <a:ext cx="117144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1600" dirty="0">
                <a:solidFill>
                  <a:srgbClr val="000000"/>
                </a:solidFill>
                <a:latin typeface="Calibri" panose="020F0502020204030204" pitchFamily="34" charset="0"/>
              </a:rPr>
              <a:t>We take this opportunity to express our sincere gratitude to </a:t>
            </a:r>
            <a:r>
              <a:rPr lang="en-IN" sz="1600" dirty="0" err="1">
                <a:solidFill>
                  <a:srgbClr val="000000"/>
                </a:solidFill>
                <a:latin typeface="Calibri" panose="020F0502020204030204" pitchFamily="34" charset="0"/>
              </a:rPr>
              <a:t>Dezyne</a:t>
            </a:r>
            <a:r>
              <a:rPr lang="en-IN" sz="1600" dirty="0">
                <a:solidFill>
                  <a:srgbClr val="000000"/>
                </a:solidFill>
                <a:latin typeface="Calibri" panose="020F0502020204030204" pitchFamily="34" charset="0"/>
              </a:rPr>
              <a:t> École College for providing us with the knowledge, </a:t>
            </a:r>
            <a:endParaRPr lang="en-IN" sz="1600" dirty="0"/>
          </a:p>
          <a:p>
            <a:pPr>
              <a:buNone/>
            </a:pPr>
            <a:r>
              <a:rPr lang="en-IN" sz="1600" dirty="0">
                <a:solidFill>
                  <a:srgbClr val="000000"/>
                </a:solidFill>
                <a:latin typeface="Calibri" panose="020F0502020204030204" pitchFamily="34" charset="0"/>
              </a:rPr>
              <a:t>resources, and guidance essential to the successful completion of this project.</a:t>
            </a:r>
            <a:endParaRPr lang="en-IN" sz="16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9F0E4E0-31C1-6C41-4773-E4B05CC6CDF9}"/>
              </a:ext>
            </a:extLst>
          </p:cNvPr>
          <p:cNvSpPr txBox="1"/>
          <p:nvPr/>
        </p:nvSpPr>
        <p:spPr>
          <a:xfrm>
            <a:off x="467360" y="1991966"/>
            <a:ext cx="117144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600" dirty="0"/>
              <a:t>Our deepest thanks to our respected Principal, Dr. Vinita Mathur, for her visionary leadership and continuous encouragement. </a:t>
            </a:r>
          </a:p>
          <a:p>
            <a:r>
              <a:rPr lang="en-IN" sz="1600" dirty="0"/>
              <a:t>Her commitment to academic excellence and student growth has been a constant source of motivation and pride.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CED4851-BED6-C97D-CBD4-737FD7001A31}"/>
              </a:ext>
            </a:extLst>
          </p:cNvPr>
          <p:cNvSpPr txBox="1"/>
          <p:nvPr/>
        </p:nvSpPr>
        <p:spPr>
          <a:xfrm>
            <a:off x="477520" y="2665616"/>
            <a:ext cx="117144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600" dirty="0"/>
              <a:t>We are equally thankful to all our faculty members for their consistent support, expert advice, and valuable insights that </a:t>
            </a:r>
          </a:p>
          <a:p>
            <a:r>
              <a:rPr lang="en-IN" sz="1600" dirty="0"/>
              <a:t>shaped our learning and helped us achieve this milestone.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3ECDEBB-F665-D517-8997-481540058DC4}"/>
              </a:ext>
            </a:extLst>
          </p:cNvPr>
          <p:cNvSpPr txBox="1"/>
          <p:nvPr/>
        </p:nvSpPr>
        <p:spPr>
          <a:xfrm>
            <a:off x="487680" y="3284890"/>
            <a:ext cx="117144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1600" dirty="0"/>
              <a:t>Lastly, we extend heartfelt thanks to everyone who directly or indirectly contributed to the success of this project.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B78CFED-75F4-18E7-95EF-3CF996CBD9D2}"/>
              </a:ext>
            </a:extLst>
          </p:cNvPr>
          <p:cNvSpPr txBox="1"/>
          <p:nvPr/>
        </p:nvSpPr>
        <p:spPr>
          <a:xfrm>
            <a:off x="477520" y="3668221"/>
            <a:ext cx="117144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1600" dirty="0"/>
              <a:t>We are proud to be part of </a:t>
            </a:r>
            <a:r>
              <a:rPr lang="en-IN" sz="1600" dirty="0" err="1"/>
              <a:t>Dezyne</a:t>
            </a:r>
            <a:r>
              <a:rPr lang="en-IN" sz="1600" dirty="0"/>
              <a:t> École College, an institution that truly nurtures professionalism, innovation, and purpose.</a:t>
            </a:r>
            <a:endParaRPr lang="en-IN" sz="2133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156C6B5-E789-1834-4170-3D45DCE773BB}"/>
              </a:ext>
            </a:extLst>
          </p:cNvPr>
          <p:cNvSpPr txBox="1"/>
          <p:nvPr/>
        </p:nvSpPr>
        <p:spPr>
          <a:xfrm>
            <a:off x="477520" y="4270715"/>
            <a:ext cx="117144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1600" dirty="0"/>
              <a:t>With sincere appreciation,</a:t>
            </a:r>
            <a:endParaRPr lang="en-IN" sz="2667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D6EE082-41EE-6CB0-6E1F-64B21049B0A8}"/>
              </a:ext>
            </a:extLst>
          </p:cNvPr>
          <p:cNvSpPr txBox="1"/>
          <p:nvPr/>
        </p:nvSpPr>
        <p:spPr>
          <a:xfrm>
            <a:off x="477520" y="4619173"/>
            <a:ext cx="117144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1600" dirty="0"/>
              <a:t>Sakshi Kotwani</a:t>
            </a:r>
            <a:endParaRPr lang="en-IN" sz="2133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C423A19-6491-5ABB-9DAE-17A5BB10C218}"/>
              </a:ext>
            </a:extLst>
          </p:cNvPr>
          <p:cNvSpPr txBox="1"/>
          <p:nvPr/>
        </p:nvSpPr>
        <p:spPr>
          <a:xfrm>
            <a:off x="477520" y="4995720"/>
            <a:ext cx="117144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1600" dirty="0"/>
              <a:t>Department – BCA</a:t>
            </a:r>
            <a:endParaRPr lang="en-IN" sz="2667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C691ABC-7CC0-916D-730B-91ED476AD6A1}"/>
              </a:ext>
            </a:extLst>
          </p:cNvPr>
          <p:cNvSpPr txBox="1"/>
          <p:nvPr/>
        </p:nvSpPr>
        <p:spPr>
          <a:xfrm>
            <a:off x="477520" y="5372267"/>
            <a:ext cx="117144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1600" dirty="0" err="1"/>
              <a:t>Dezyne</a:t>
            </a:r>
            <a:r>
              <a:rPr lang="en-IN" sz="1600" dirty="0"/>
              <a:t> École College, Ajmer</a:t>
            </a:r>
            <a:endParaRPr lang="en-IN" sz="32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1F7A64-30EF-C81A-16CB-5F4D10EF8415}"/>
              </a:ext>
            </a:extLst>
          </p:cNvPr>
          <p:cNvSpPr txBox="1"/>
          <p:nvPr/>
        </p:nvSpPr>
        <p:spPr>
          <a:xfrm>
            <a:off x="528320" y="6287270"/>
            <a:ext cx="111658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600" dirty="0">
                <a:solidFill>
                  <a:srgbClr val="000000"/>
                </a:solidFill>
                <a:latin typeface="Calibri-Bold"/>
              </a:rPr>
              <a:t>--------------------------------------------------------------------------------------------------------------------------------------------------------------------------------</a:t>
            </a:r>
            <a:endParaRPr lang="en-IN" sz="1867" dirty="0"/>
          </a:p>
        </p:txBody>
      </p:sp>
    </p:spTree>
    <p:extLst>
      <p:ext uri="{BB962C8B-B14F-4D97-AF65-F5344CB8AC3E}">
        <p14:creationId xmlns:p14="http://schemas.microsoft.com/office/powerpoint/2010/main" val="35702689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C37A6E-8DC1-CD5A-7968-9091C8B080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F539D44-C457-38D0-3FF5-0FF53A53F628}"/>
              </a:ext>
            </a:extLst>
          </p:cNvPr>
          <p:cNvSpPr txBox="1"/>
          <p:nvPr/>
        </p:nvSpPr>
        <p:spPr>
          <a:xfrm>
            <a:off x="508000" y="787400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600" b="1" dirty="0">
                <a:solidFill>
                  <a:srgbClr val="000000"/>
                </a:solidFill>
                <a:latin typeface="Calibri-Bold"/>
              </a:rPr>
              <a:t>ASSIGNMENT FOLIO</a:t>
            </a:r>
            <a:endParaRPr lang="en-IN" sz="1867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3C64653-8634-DA1B-7424-4BB67163D02B}"/>
              </a:ext>
            </a:extLst>
          </p:cNvPr>
          <p:cNvSpPr txBox="1"/>
          <p:nvPr/>
        </p:nvSpPr>
        <p:spPr>
          <a:xfrm>
            <a:off x="9296400" y="416841"/>
            <a:ext cx="28956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1600" b="1" dirty="0"/>
              <a:t>Case Study</a:t>
            </a:r>
            <a:endParaRPr lang="en-IN" sz="2667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1ACA31D-5774-2CB5-14BA-E7529525A37D}"/>
              </a:ext>
            </a:extLst>
          </p:cNvPr>
          <p:cNvSpPr txBox="1"/>
          <p:nvPr/>
        </p:nvSpPr>
        <p:spPr>
          <a:xfrm>
            <a:off x="518160" y="386080"/>
            <a:ext cx="28956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600" b="1" dirty="0">
                <a:solidFill>
                  <a:schemeClr val="accent1"/>
                </a:solidFill>
              </a:rPr>
              <a:t>Digital Marketing</a:t>
            </a:r>
            <a:endParaRPr lang="en-IN" sz="2667" dirty="0">
              <a:solidFill>
                <a:schemeClr val="accent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18629F7-F2C1-12B5-B41C-296C529AC711}"/>
              </a:ext>
            </a:extLst>
          </p:cNvPr>
          <p:cNvSpPr txBox="1"/>
          <p:nvPr/>
        </p:nvSpPr>
        <p:spPr>
          <a:xfrm>
            <a:off x="513080" y="603313"/>
            <a:ext cx="111658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600" dirty="0">
                <a:solidFill>
                  <a:srgbClr val="000000"/>
                </a:solidFill>
                <a:latin typeface="Calibri-Bold"/>
              </a:rPr>
              <a:t>--------------------------------------------------------------------------------------------------------------------------------------------------------------------------------</a:t>
            </a:r>
            <a:endParaRPr lang="en-IN" sz="1867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A25CFD0-4C58-C515-9998-6DA64A0276EF}"/>
              </a:ext>
            </a:extLst>
          </p:cNvPr>
          <p:cNvSpPr txBox="1"/>
          <p:nvPr/>
        </p:nvSpPr>
        <p:spPr>
          <a:xfrm>
            <a:off x="467360" y="1744188"/>
            <a:ext cx="107086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600" dirty="0"/>
              <a:t>Build Subscriber Base, Increase Engagement, Promote Products, Improve Conversions &amp; Maximize ROI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8C5B2CB-73E4-E142-C520-8AF5AC967F9D}"/>
              </a:ext>
            </a:extLst>
          </p:cNvPr>
          <p:cNvSpPr txBox="1"/>
          <p:nvPr/>
        </p:nvSpPr>
        <p:spPr>
          <a:xfrm>
            <a:off x="467360" y="1514745"/>
            <a:ext cx="117144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1600" b="1" dirty="0"/>
              <a:t>Objective:</a:t>
            </a:r>
            <a:endParaRPr lang="en-IN" sz="2667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E8D3780-3A41-5DB5-71FA-1976A94D3326}"/>
              </a:ext>
            </a:extLst>
          </p:cNvPr>
          <p:cNvSpPr txBox="1"/>
          <p:nvPr/>
        </p:nvSpPr>
        <p:spPr>
          <a:xfrm>
            <a:off x="467360" y="2522287"/>
            <a:ext cx="107086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600" dirty="0"/>
              <a:t>Created audience list in Mailchimp. Segmented subscribers based on interests and demographics.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A72AC1B-66AE-13E7-E392-0D89894DEA37}"/>
              </a:ext>
            </a:extLst>
          </p:cNvPr>
          <p:cNvSpPr txBox="1"/>
          <p:nvPr/>
        </p:nvSpPr>
        <p:spPr>
          <a:xfrm>
            <a:off x="467360" y="2292844"/>
            <a:ext cx="117144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1600" b="1" dirty="0"/>
              <a:t>1. Subscriber List Creation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CDD65B4-7A3D-B7F1-F8C6-DB0547938F04}"/>
              </a:ext>
            </a:extLst>
          </p:cNvPr>
          <p:cNvSpPr txBox="1"/>
          <p:nvPr/>
        </p:nvSpPr>
        <p:spPr>
          <a:xfrm>
            <a:off x="467360" y="3199203"/>
            <a:ext cx="107086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600" dirty="0"/>
              <a:t>Selected regular email campaign and defined campaign name, audience, and subject line with strong CTA.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2CDD6EB-B0E8-3D09-EE8B-E074E536D463}"/>
              </a:ext>
            </a:extLst>
          </p:cNvPr>
          <p:cNvSpPr txBox="1"/>
          <p:nvPr/>
        </p:nvSpPr>
        <p:spPr>
          <a:xfrm>
            <a:off x="467360" y="2969760"/>
            <a:ext cx="117144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1600" b="1" dirty="0"/>
              <a:t>2. Email Campaign Setup</a:t>
            </a:r>
            <a:endParaRPr lang="en-IN" sz="40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CAA71EC-7B65-0CAC-7909-DB66E03FAF82}"/>
              </a:ext>
            </a:extLst>
          </p:cNvPr>
          <p:cNvSpPr txBox="1"/>
          <p:nvPr/>
        </p:nvSpPr>
        <p:spPr>
          <a:xfrm>
            <a:off x="467360" y="3895753"/>
            <a:ext cx="1070864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600" dirty="0"/>
              <a:t>Designed responsive email using drag-and-drop builder. Added logo, banner image, product details, and clear Call-to-Action buttons.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C479394-3868-4DEC-3CD3-823EDAA28A4C}"/>
              </a:ext>
            </a:extLst>
          </p:cNvPr>
          <p:cNvSpPr txBox="1"/>
          <p:nvPr/>
        </p:nvSpPr>
        <p:spPr>
          <a:xfrm>
            <a:off x="467360" y="3666311"/>
            <a:ext cx="117144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1600" b="1" dirty="0"/>
              <a:t>3. Email Designing</a:t>
            </a:r>
            <a:endParaRPr lang="en-IN" sz="3200" b="1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D482AE3-32D2-F4FC-48A3-16D11746E54C}"/>
              </a:ext>
            </a:extLst>
          </p:cNvPr>
          <p:cNvSpPr txBox="1"/>
          <p:nvPr/>
        </p:nvSpPr>
        <p:spPr>
          <a:xfrm>
            <a:off x="467360" y="4770599"/>
            <a:ext cx="107086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600" dirty="0"/>
              <a:t>Sent test emails to check layout, links, subject line, and mobile responsiveness.</a:t>
            </a:r>
            <a:endParaRPr lang="en-IN" sz="2133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0574476-DD27-42BB-4E7D-5DD4260B475A}"/>
              </a:ext>
            </a:extLst>
          </p:cNvPr>
          <p:cNvSpPr txBox="1"/>
          <p:nvPr/>
        </p:nvSpPr>
        <p:spPr>
          <a:xfrm>
            <a:off x="467360" y="4541156"/>
            <a:ext cx="117144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600" b="1" dirty="0"/>
              <a:t>4. Test Email &amp; Optimization</a:t>
            </a:r>
            <a:endParaRPr lang="en-IN" sz="2133" b="1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562F9E4-910D-8CB0-3B85-640610215E22}"/>
              </a:ext>
            </a:extLst>
          </p:cNvPr>
          <p:cNvSpPr txBox="1"/>
          <p:nvPr/>
        </p:nvSpPr>
        <p:spPr>
          <a:xfrm>
            <a:off x="528320" y="6287270"/>
            <a:ext cx="111658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600" dirty="0">
                <a:solidFill>
                  <a:srgbClr val="000000"/>
                </a:solidFill>
                <a:latin typeface="Calibri-Bold"/>
              </a:rPr>
              <a:t>--------------------------------------------------------------------------------------------------------------------------------------------------------------------------------</a:t>
            </a:r>
            <a:endParaRPr lang="en-IN" sz="1867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3502EA2-4D1F-616A-73AF-070EC5CB2A48}"/>
              </a:ext>
            </a:extLst>
          </p:cNvPr>
          <p:cNvSpPr txBox="1"/>
          <p:nvPr/>
        </p:nvSpPr>
        <p:spPr>
          <a:xfrm>
            <a:off x="467360" y="5458023"/>
            <a:ext cx="107086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600" dirty="0"/>
              <a:t>Scheduled and sent final campaign. Monitored open rate, click-through rate (CTR), and conversions.</a:t>
            </a:r>
            <a:endParaRPr lang="en-IN" sz="2133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8B55893-B15B-24FA-AA2E-00004F446554}"/>
              </a:ext>
            </a:extLst>
          </p:cNvPr>
          <p:cNvSpPr txBox="1"/>
          <p:nvPr/>
        </p:nvSpPr>
        <p:spPr>
          <a:xfrm>
            <a:off x="467360" y="5228581"/>
            <a:ext cx="117144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600" b="1" dirty="0"/>
              <a:t>5. Final Publication &amp; Performance Tracking</a:t>
            </a:r>
            <a:endParaRPr lang="en-IN" sz="2133" b="1" dirty="0"/>
          </a:p>
        </p:txBody>
      </p:sp>
    </p:spTree>
    <p:extLst>
      <p:ext uri="{BB962C8B-B14F-4D97-AF65-F5344CB8AC3E}">
        <p14:creationId xmlns:p14="http://schemas.microsoft.com/office/powerpoint/2010/main" val="40987725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8B6332-50D4-9274-D81F-374A6BD9C7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657D10B-BCE9-C661-A94F-8D9ECD2315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4726" y="0"/>
            <a:ext cx="1232145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75704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1F2993-9DA5-44FD-4E79-87D3A3EA2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7D6368F-73BC-D8F8-CEDA-B7102C701286}"/>
              </a:ext>
            </a:extLst>
          </p:cNvPr>
          <p:cNvSpPr txBox="1"/>
          <p:nvPr/>
        </p:nvSpPr>
        <p:spPr>
          <a:xfrm>
            <a:off x="0" y="140964"/>
            <a:ext cx="12192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4800" b="1" dirty="0"/>
              <a:t>Mailchimp Account Setup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EDC5871-8428-A845-942A-7EA15AAFC56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9222" b="92219" l="8986" r="92464">
                        <a14:foregroundMark x1="40290" y1="9510" x2="40290" y2="9510"/>
                        <a14:foregroundMark x1="8986" y1="48127" x2="8986" y2="48127"/>
                        <a14:foregroundMark x1="88986" y1="48415" x2="88986" y2="48415"/>
                        <a14:foregroundMark x1="92464" y1="49856" x2="92464" y2="49856"/>
                        <a14:foregroundMark x1="49565" y1="92219" x2="49565" y2="92219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3200" y="159409"/>
            <a:ext cx="763573" cy="768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EB8A611-CF37-8549-698A-AEAD85E6060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7892" y="1079467"/>
            <a:ext cx="10689268" cy="54589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42219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4E73E8-A4FB-7CB0-4558-69C66911F0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49230B1-A9BB-F83F-6816-0BCD1070A9AB}"/>
              </a:ext>
            </a:extLst>
          </p:cNvPr>
          <p:cNvSpPr txBox="1"/>
          <p:nvPr/>
        </p:nvSpPr>
        <p:spPr>
          <a:xfrm>
            <a:off x="0" y="140964"/>
            <a:ext cx="12192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4800" b="1" dirty="0"/>
              <a:t>Email Campaign Dashboard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8D2071E-5ECB-2062-4A41-42A59EF44DD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9222" b="92219" l="8986" r="92464">
                        <a14:foregroundMark x1="40290" y1="9510" x2="40290" y2="9510"/>
                        <a14:foregroundMark x1="8986" y1="48127" x2="8986" y2="48127"/>
                        <a14:foregroundMark x1="88986" y1="48415" x2="88986" y2="48415"/>
                        <a14:foregroundMark x1="92464" y1="49856" x2="92464" y2="49856"/>
                        <a14:foregroundMark x1="49565" y1="92219" x2="49565" y2="92219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3200" y="159409"/>
            <a:ext cx="763573" cy="7680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867785D-3B4F-D41E-D3A1-8EF2BD39C6C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6773" y="1181100"/>
            <a:ext cx="10402642" cy="5391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84680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B01086-3214-8052-08AC-281CC9CA9C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79DAD0C-BCED-7D89-08A3-01F1E2C35CBD}"/>
              </a:ext>
            </a:extLst>
          </p:cNvPr>
          <p:cNvSpPr txBox="1"/>
          <p:nvPr/>
        </p:nvSpPr>
        <p:spPr>
          <a:xfrm>
            <a:off x="0" y="140964"/>
            <a:ext cx="121920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4400" b="1" dirty="0"/>
              <a:t>Email Design Method Selection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8F9DBCB-BE84-3E7D-D0A4-5E01D2027CC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9222" b="92219" l="8986" r="92464">
                        <a14:foregroundMark x1="40290" y1="9510" x2="40290" y2="9510"/>
                        <a14:foregroundMark x1="8986" y1="48127" x2="8986" y2="48127"/>
                        <a14:foregroundMark x1="88986" y1="48415" x2="88986" y2="48415"/>
                        <a14:foregroundMark x1="92464" y1="49856" x2="92464" y2="49856"/>
                        <a14:foregroundMark x1="49565" y1="92219" x2="49565" y2="92219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3200" y="159409"/>
            <a:ext cx="763573" cy="768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9BC86E4-48AC-BD9E-721E-405F88FEF69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8" t="15689" r="3129" b="4906"/>
          <a:stretch>
            <a:fillRect/>
          </a:stretch>
        </p:blipFill>
        <p:spPr>
          <a:xfrm>
            <a:off x="420199" y="1397000"/>
            <a:ext cx="11351603" cy="50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09089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57D302-54FF-E176-4B4A-49D63231DA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BCD5D6C-42B7-1885-A7EF-A8854CE4C227}"/>
              </a:ext>
            </a:extLst>
          </p:cNvPr>
          <p:cNvSpPr txBox="1"/>
          <p:nvPr/>
        </p:nvSpPr>
        <p:spPr>
          <a:xfrm>
            <a:off x="0" y="140964"/>
            <a:ext cx="121920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4400" b="1" dirty="0"/>
              <a:t>Email Template Selection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F873C08-E56B-D7C7-DB2E-CEEE1DED4C8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9222" b="92219" l="8986" r="92464">
                        <a14:foregroundMark x1="40290" y1="9510" x2="40290" y2="9510"/>
                        <a14:foregroundMark x1="8986" y1="48127" x2="8986" y2="48127"/>
                        <a14:foregroundMark x1="88986" y1="48415" x2="88986" y2="48415"/>
                        <a14:foregroundMark x1="92464" y1="49856" x2="92464" y2="49856"/>
                        <a14:foregroundMark x1="49565" y1="92219" x2="49565" y2="92219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3200" y="159409"/>
            <a:ext cx="763573" cy="7680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6BA206C-64C2-E5C5-57C2-8A4906F9E63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788" r="1046"/>
          <a:stretch>
            <a:fillRect/>
          </a:stretch>
        </p:blipFill>
        <p:spPr>
          <a:xfrm>
            <a:off x="1218777" y="1397000"/>
            <a:ext cx="9652423" cy="4623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14173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AF490C-EA2C-A34C-CB81-3EF4E80026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177B41F-2EAA-91F4-A4CF-213E6DCFA5CC}"/>
              </a:ext>
            </a:extLst>
          </p:cNvPr>
          <p:cNvSpPr txBox="1"/>
          <p:nvPr/>
        </p:nvSpPr>
        <p:spPr>
          <a:xfrm>
            <a:off x="0" y="140964"/>
            <a:ext cx="121920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4400" b="1" dirty="0"/>
              <a:t>Email Design &amp; Customization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62C1394-E78E-C78A-5A8D-30D4D22E233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9222" b="92219" l="8986" r="92464">
                        <a14:foregroundMark x1="40290" y1="9510" x2="40290" y2="9510"/>
                        <a14:foregroundMark x1="8986" y1="48127" x2="8986" y2="48127"/>
                        <a14:foregroundMark x1="88986" y1="48415" x2="88986" y2="48415"/>
                        <a14:foregroundMark x1="92464" y1="49856" x2="92464" y2="49856"/>
                        <a14:foregroundMark x1="49565" y1="92219" x2="49565" y2="92219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3200" y="159409"/>
            <a:ext cx="763573" cy="768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8AE944F-C7E9-C1A9-57B1-59BE09CD5FD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2673" y="1050128"/>
            <a:ext cx="10624486" cy="5506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91803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67AAE5-F8A9-E15C-4A09-D439F1D13F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F939A86-1352-E9AC-A389-A8278D2E2F08}"/>
              </a:ext>
            </a:extLst>
          </p:cNvPr>
          <p:cNvSpPr txBox="1"/>
          <p:nvPr/>
        </p:nvSpPr>
        <p:spPr>
          <a:xfrm>
            <a:off x="0" y="140964"/>
            <a:ext cx="121920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4400" b="1" dirty="0"/>
              <a:t>Email Design &amp; Customization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D14FC96-7C3A-FE02-3C80-B62AFAE85BC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9222" b="92219" l="8986" r="92464">
                        <a14:foregroundMark x1="40290" y1="9510" x2="40290" y2="9510"/>
                        <a14:foregroundMark x1="8986" y1="48127" x2="8986" y2="48127"/>
                        <a14:foregroundMark x1="88986" y1="48415" x2="88986" y2="48415"/>
                        <a14:foregroundMark x1="92464" y1="49856" x2="92464" y2="49856"/>
                        <a14:foregroundMark x1="49565" y1="92219" x2="49565" y2="92219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3200" y="159409"/>
            <a:ext cx="763573" cy="768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C2667DF-C9CA-CAB6-4AD4-F11DA2037E1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536" t="17002" r="8662" b="301"/>
          <a:stretch>
            <a:fillRect/>
          </a:stretch>
        </p:blipFill>
        <p:spPr>
          <a:xfrm>
            <a:off x="120904" y="2127250"/>
            <a:ext cx="3834965" cy="328532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48407D0-D52E-3E08-13B6-ECCB34E066B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223" t="17202" r="9179"/>
          <a:stretch>
            <a:fillRect/>
          </a:stretch>
        </p:blipFill>
        <p:spPr>
          <a:xfrm>
            <a:off x="4126797" y="2116003"/>
            <a:ext cx="3858722" cy="3248659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B5D1407-7451-1D1C-CD52-43FB5FFB948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214" t="16493" r="12663"/>
          <a:stretch>
            <a:fillRect/>
          </a:stretch>
        </p:blipFill>
        <p:spPr>
          <a:xfrm>
            <a:off x="8156447" y="2104998"/>
            <a:ext cx="3675889" cy="33157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281434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4D8945-6C74-E3B1-D7DB-45BBBC2C46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CEE3E96-DE64-576D-3A09-BB34FB692648}"/>
              </a:ext>
            </a:extLst>
          </p:cNvPr>
          <p:cNvSpPr txBox="1"/>
          <p:nvPr/>
        </p:nvSpPr>
        <p:spPr>
          <a:xfrm>
            <a:off x="0" y="140964"/>
            <a:ext cx="121920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4400" b="1" dirty="0"/>
              <a:t>Email Design &amp; Customization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C0D5D52-709F-FFA0-5B59-A4C7014DEDE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9222" b="92219" l="8986" r="92464">
                        <a14:foregroundMark x1="40290" y1="9510" x2="40290" y2="9510"/>
                        <a14:foregroundMark x1="8986" y1="48127" x2="8986" y2="48127"/>
                        <a14:foregroundMark x1="88986" y1="48415" x2="88986" y2="48415"/>
                        <a14:foregroundMark x1="92464" y1="49856" x2="92464" y2="49856"/>
                        <a14:foregroundMark x1="49565" y1="92219" x2="49565" y2="92219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3200" y="159409"/>
            <a:ext cx="763573" cy="768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AF7E3C9-EF91-3B81-3EB0-E040991B575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8353" r="30113"/>
          <a:stretch>
            <a:fillRect/>
          </a:stretch>
        </p:blipFill>
        <p:spPr>
          <a:xfrm>
            <a:off x="584986" y="1340602"/>
            <a:ext cx="3310128" cy="522631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6192904-797F-77E9-96A6-97BF5F47FE6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005" r="30712"/>
          <a:stretch>
            <a:fillRect/>
          </a:stretch>
        </p:blipFill>
        <p:spPr>
          <a:xfrm>
            <a:off x="4246516" y="1321552"/>
            <a:ext cx="3310128" cy="526442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CF3C163-F68A-3634-A76B-C5DAD69E9A5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090" r="29243"/>
          <a:stretch>
            <a:fillRect/>
          </a:stretch>
        </p:blipFill>
        <p:spPr>
          <a:xfrm>
            <a:off x="8037576" y="1226298"/>
            <a:ext cx="3310128" cy="5359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562058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99AF84-FFB7-2D0F-E726-B5D7300ECB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C284C2F-0278-6FD4-6FFA-04B4AE991299}"/>
              </a:ext>
            </a:extLst>
          </p:cNvPr>
          <p:cNvSpPr txBox="1"/>
          <p:nvPr/>
        </p:nvSpPr>
        <p:spPr>
          <a:xfrm>
            <a:off x="0" y="140964"/>
            <a:ext cx="121920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4400" b="1" dirty="0"/>
              <a:t>Contact Import Method Selection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67072F3-B535-CFA4-44DB-4EABCC8312F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9222" b="92219" l="8986" r="92464">
                        <a14:foregroundMark x1="40290" y1="9510" x2="40290" y2="9510"/>
                        <a14:foregroundMark x1="8986" y1="48127" x2="8986" y2="48127"/>
                        <a14:foregroundMark x1="88986" y1="48415" x2="88986" y2="48415"/>
                        <a14:foregroundMark x1="92464" y1="49856" x2="92464" y2="49856"/>
                        <a14:foregroundMark x1="49565" y1="92219" x2="49565" y2="92219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3200" y="159409"/>
            <a:ext cx="763573" cy="7680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EB4E7EF-0309-D467-FA4E-FB5AC6941EC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768" r="2609"/>
          <a:stretch>
            <a:fillRect/>
          </a:stretch>
        </p:blipFill>
        <p:spPr>
          <a:xfrm>
            <a:off x="641038" y="1244600"/>
            <a:ext cx="10909925" cy="5250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750725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901536-5544-562F-F3AF-29E9EAD9A1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F986764-5D46-2F43-ED22-1F590061DDEC}"/>
              </a:ext>
            </a:extLst>
          </p:cNvPr>
          <p:cNvSpPr txBox="1"/>
          <p:nvPr/>
        </p:nvSpPr>
        <p:spPr>
          <a:xfrm>
            <a:off x="0" y="140964"/>
            <a:ext cx="121920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4400" b="1" dirty="0"/>
              <a:t>Copy &amp; Paste Your Contact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C522B3A-10F2-9FF9-7785-7A1C3EAC569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9222" b="92219" l="8986" r="92464">
                        <a14:foregroundMark x1="40290" y1="9510" x2="40290" y2="9510"/>
                        <a14:foregroundMark x1="8986" y1="48127" x2="8986" y2="48127"/>
                        <a14:foregroundMark x1="88986" y1="48415" x2="88986" y2="48415"/>
                        <a14:foregroundMark x1="92464" y1="49856" x2="92464" y2="49856"/>
                        <a14:foregroundMark x1="49565" y1="92219" x2="49565" y2="92219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3200" y="159409"/>
            <a:ext cx="763573" cy="768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C44F29C-B750-4D5F-1E7E-9FC45E17C7E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8614" y="1103797"/>
            <a:ext cx="9874771" cy="50866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773949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E09B51-3490-AA19-E059-1403A1CCEF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00FCC56-798B-76D2-75EA-E9CD06A284CF}"/>
              </a:ext>
            </a:extLst>
          </p:cNvPr>
          <p:cNvSpPr txBox="1"/>
          <p:nvPr/>
        </p:nvSpPr>
        <p:spPr>
          <a:xfrm>
            <a:off x="0" y="140964"/>
            <a:ext cx="121920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4400" b="1" dirty="0"/>
              <a:t>Contact Imported Successfully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29452CA-6D01-3C0B-24A6-985BD80C079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9222" b="92219" l="8986" r="92464">
                        <a14:foregroundMark x1="40290" y1="9510" x2="40290" y2="9510"/>
                        <a14:foregroundMark x1="8986" y1="48127" x2="8986" y2="48127"/>
                        <a14:foregroundMark x1="88986" y1="48415" x2="88986" y2="48415"/>
                        <a14:foregroundMark x1="92464" y1="49856" x2="92464" y2="49856"/>
                        <a14:foregroundMark x1="49565" y1="92219" x2="49565" y2="92219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3200" y="159409"/>
            <a:ext cx="763573" cy="7680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6AC6D44-BDBC-FBB1-B67A-B0CC3C90A81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6773" y="1107475"/>
            <a:ext cx="9913167" cy="51013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290005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3C66A0-8FF9-F90D-DEF7-F2F82DD617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8E214E3-830A-F45D-5CA6-30D784B988E0}"/>
              </a:ext>
            </a:extLst>
          </p:cNvPr>
          <p:cNvSpPr txBox="1"/>
          <p:nvPr/>
        </p:nvSpPr>
        <p:spPr>
          <a:xfrm>
            <a:off x="0" y="140964"/>
            <a:ext cx="121920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4400" b="1" dirty="0"/>
              <a:t>Import Completion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0A790CC-F9FF-B8FB-8038-8523DF5B69D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9222" b="92219" l="8986" r="92464">
                        <a14:foregroundMark x1="40290" y1="9510" x2="40290" y2="9510"/>
                        <a14:foregroundMark x1="8986" y1="48127" x2="8986" y2="48127"/>
                        <a14:foregroundMark x1="88986" y1="48415" x2="88986" y2="48415"/>
                        <a14:foregroundMark x1="92464" y1="49856" x2="92464" y2="49856"/>
                        <a14:foregroundMark x1="49565" y1="92219" x2="49565" y2="92219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3200" y="159409"/>
            <a:ext cx="763573" cy="768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6FD4FFA-3A5B-A7F6-0188-80DA759632F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6773" y="943085"/>
            <a:ext cx="10725844" cy="54888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518031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ECAA95-0F84-98EC-4CF3-0C7B2E1D14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9FB594F-7231-CE53-7692-100792CAC62A}"/>
              </a:ext>
            </a:extLst>
          </p:cNvPr>
          <p:cNvSpPr txBox="1"/>
          <p:nvPr/>
        </p:nvSpPr>
        <p:spPr>
          <a:xfrm>
            <a:off x="0" y="140964"/>
            <a:ext cx="121920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4400" b="1" dirty="0"/>
              <a:t>Import Confirmation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60A6F65-AA91-47F8-D89B-D581174285F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9222" b="92219" l="8986" r="92464">
                        <a14:foregroundMark x1="40290" y1="9510" x2="40290" y2="9510"/>
                        <a14:foregroundMark x1="8986" y1="48127" x2="8986" y2="48127"/>
                        <a14:foregroundMark x1="88986" y1="48415" x2="88986" y2="48415"/>
                        <a14:foregroundMark x1="92464" y1="49856" x2="92464" y2="49856"/>
                        <a14:foregroundMark x1="49565" y1="92219" x2="49565" y2="92219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3200" y="159409"/>
            <a:ext cx="763573" cy="768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4D7F85F-E51B-CF1C-0987-F84FC737687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0383" y="943085"/>
            <a:ext cx="10224189" cy="53069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697825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4E4F4F-8CA9-E355-8688-83012DDEE7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F7E10E5-1C5E-6B78-10D3-99D9685BA86B}"/>
              </a:ext>
            </a:extLst>
          </p:cNvPr>
          <p:cNvSpPr txBox="1"/>
          <p:nvPr/>
        </p:nvSpPr>
        <p:spPr>
          <a:xfrm>
            <a:off x="0" y="140964"/>
            <a:ext cx="121920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4400" b="1" dirty="0"/>
              <a:t>Campaign Preview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E068618-A9D2-F2C7-6E9D-5993199474E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9222" b="92219" l="8986" r="92464">
                        <a14:foregroundMark x1="40290" y1="9510" x2="40290" y2="9510"/>
                        <a14:foregroundMark x1="8986" y1="48127" x2="8986" y2="48127"/>
                        <a14:foregroundMark x1="88986" y1="48415" x2="88986" y2="48415"/>
                        <a14:foregroundMark x1="92464" y1="49856" x2="92464" y2="49856"/>
                        <a14:foregroundMark x1="49565" y1="92219" x2="49565" y2="92219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3200" y="159409"/>
            <a:ext cx="763573" cy="768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056ED6C-BB98-E236-2682-24ACBA10252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1744" y="1073810"/>
            <a:ext cx="10428512" cy="54154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040508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F9D750-1AA5-9A69-9124-DA1AF81E28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E56117B-5C38-5C6B-54BB-513664F96213}"/>
              </a:ext>
            </a:extLst>
          </p:cNvPr>
          <p:cNvSpPr txBox="1"/>
          <p:nvPr/>
        </p:nvSpPr>
        <p:spPr>
          <a:xfrm>
            <a:off x="0" y="140964"/>
            <a:ext cx="121920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4400" b="1" dirty="0"/>
              <a:t>Campaign Successfully Launched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EFC9289-E8DD-2C2F-E6D5-7AF55709B00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9222" b="92219" l="8986" r="92464">
                        <a14:foregroundMark x1="40290" y1="9510" x2="40290" y2="9510"/>
                        <a14:foregroundMark x1="8986" y1="48127" x2="8986" y2="48127"/>
                        <a14:foregroundMark x1="88986" y1="48415" x2="88986" y2="48415"/>
                        <a14:foregroundMark x1="92464" y1="49856" x2="92464" y2="49856"/>
                        <a14:foregroundMark x1="49565" y1="92219" x2="49565" y2="92219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3200" y="159409"/>
            <a:ext cx="763573" cy="768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C30CE91-242D-C831-1399-94F9FB27057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4717" y="1099786"/>
            <a:ext cx="10034724" cy="51638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000283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8E4945-EE62-A69B-15C4-0591E5922E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746285D-E77F-C04C-D318-A04C1ED9EC52}"/>
              </a:ext>
            </a:extLst>
          </p:cNvPr>
          <p:cNvSpPr txBox="1"/>
          <p:nvPr/>
        </p:nvSpPr>
        <p:spPr>
          <a:xfrm>
            <a:off x="0" y="237378"/>
            <a:ext cx="121920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4400" b="1" dirty="0"/>
              <a:t>Test Email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5F2B7CD-02E3-CB4D-779A-CE1C7A9CB96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9222" b="92219" l="8986" r="92464">
                        <a14:foregroundMark x1="40290" y1="9510" x2="40290" y2="9510"/>
                        <a14:foregroundMark x1="8986" y1="48127" x2="8986" y2="48127"/>
                        <a14:foregroundMark x1="88986" y1="48415" x2="88986" y2="48415"/>
                        <a14:foregroundMark x1="92464" y1="49856" x2="92464" y2="49856"/>
                        <a14:foregroundMark x1="49565" y1="92219" x2="49565" y2="92219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3200" y="255823"/>
            <a:ext cx="763573" cy="7680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3C0CBA3-8073-2D42-0FCE-2F0D5E564BE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602" t="11627" r="23774"/>
          <a:stretch>
            <a:fillRect/>
          </a:stretch>
        </p:blipFill>
        <p:spPr>
          <a:xfrm>
            <a:off x="584986" y="1180554"/>
            <a:ext cx="6044185" cy="557829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35B3585-572A-B759-A182-61677F4DD32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547" r="17093"/>
          <a:stretch>
            <a:fillRect/>
          </a:stretch>
        </p:blipFill>
        <p:spPr>
          <a:xfrm>
            <a:off x="6780082" y="1700785"/>
            <a:ext cx="5244278" cy="36067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108232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81183A-C2B1-DEAD-7F56-50C90FC0E7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40B6319-0518-3BB9-473E-C319B1873B3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46467" y="139721"/>
            <a:ext cx="9299066" cy="65785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3635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</TotalTime>
  <Words>397</Words>
  <Application>Microsoft Office PowerPoint</Application>
  <PresentationFormat>Widescreen</PresentationFormat>
  <Paragraphs>68</Paragraphs>
  <Slides>21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7" baseType="lpstr">
      <vt:lpstr>Aptos</vt:lpstr>
      <vt:lpstr>Aptos Display</vt:lpstr>
      <vt:lpstr>Arial</vt:lpstr>
      <vt:lpstr>Calibri</vt:lpstr>
      <vt:lpstr>Calibri-Bold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sakshikotwani12@gmail.com</dc:creator>
  <cp:lastModifiedBy>sakshikotwani12@gmail.com</cp:lastModifiedBy>
  <cp:revision>3</cp:revision>
  <dcterms:created xsi:type="dcterms:W3CDTF">2026-09-21T14:12:30Z</dcterms:created>
  <dcterms:modified xsi:type="dcterms:W3CDTF">2026-09-29T04:47:33Z</dcterms:modified>
</cp:coreProperties>
</file>